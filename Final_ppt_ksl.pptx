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16"/>
  </p:notesMasterIdLst>
  <p:sldIdLst>
    <p:sldId id="270" r:id="rId3"/>
    <p:sldId id="257" r:id="rId4"/>
    <p:sldId id="258" r:id="rId5"/>
    <p:sldId id="259" r:id="rId6"/>
    <p:sldId id="260" r:id="rId7"/>
    <p:sldId id="261" r:id="rId8"/>
    <p:sldId id="262" r:id="rId9"/>
    <p:sldId id="263" r:id="rId10"/>
    <p:sldId id="264" r:id="rId11"/>
    <p:sldId id="265" r:id="rId12"/>
    <p:sldId id="266" r:id="rId13"/>
    <p:sldId id="267"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576451-CBC6-474E-A6DB-5440155DC455}">
  <a:tblStyle styleId="{2E576451-CBC6-474E-A6DB-5440155DC4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830" autoAdjust="0"/>
  </p:normalViewPr>
  <p:slideViewPr>
    <p:cSldViewPr snapToGrid="0">
      <p:cViewPr varScale="1">
        <p:scale>
          <a:sx n="117" d="100"/>
          <a:sy n="117" d="100"/>
        </p:scale>
        <p:origin x="143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5ef2bf8d4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ef2bf8d4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ef2bf8d45_3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ef2bf8d45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“Good morning everyone. Our project focuses on real-time Kannada Sign Language recognition using Deep Learning and NLP. Sign language is the primary mode of communication for many Deaf and Hard-of-Hearing individuals, but unfortunately, technology for regional sign languages like Kannada is very limited.</a:t>
            </a:r>
          </a:p>
          <a:p>
            <a:r>
              <a:rPr lang="en-US" dirty="0"/>
              <a:t>In this work, we use a CNN model to recognize hand gestures representing Kannada </a:t>
            </a:r>
            <a:r>
              <a:rPr lang="en-US" dirty="0" err="1"/>
              <a:t>Vyanjanagalu</a:t>
            </a:r>
            <a:r>
              <a:rPr lang="en-US" dirty="0"/>
              <a:t> in real time. After recognition, we apply rule-based NLP to convert these gestures into meaningful Kannada text, including vowel attachment and </a:t>
            </a:r>
            <a:r>
              <a:rPr lang="en-US" dirty="0" err="1"/>
              <a:t>vattakshara</a:t>
            </a:r>
            <a:r>
              <a:rPr lang="en-US" dirty="0"/>
              <a:t> formation. Finally, the text is converted into natural Kannada speech using a hybrid TTS system.</a:t>
            </a:r>
          </a:p>
          <a:p>
            <a:r>
              <a:rPr lang="en-US" dirty="0"/>
              <a:t>Overall, our project aims to bridge communication gaps and provide an accessible AI-driven tool for the DHH community.”</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ef2bf8d45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ef2bf8d45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main challenge we address is the lack of real-time AI solutions for Kannada Sign Language. Most existing models work for ASL or ISL, but Kannada does not have large datasets or standardized models.</a:t>
            </a:r>
          </a:p>
          <a:p>
            <a:r>
              <a:rPr lang="en-US" dirty="0"/>
              <a:t>Variations in hand shape, background lighting, and signer differences make recognition difficult. Another major difficulty is that Kannada script is context-sensitive — meaning consonants and vowels combine differently. So simple gesture-to-text mapping is not enough.</a:t>
            </a:r>
          </a:p>
          <a:p>
            <a:r>
              <a:rPr lang="en-US" dirty="0"/>
              <a:t>Therefore, we needed a system that can accurately recognize Kannada consonant gestures, generate the correct Kannada text structure, and also provide natural speech output — all in real-time with low latency.”</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5ef2bf8d45_4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5ef2bf8d45_4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“Our aim is to build a complete, real-time Kannada Sign Language translation system that takes hand gestures as input and produces both text and speech output.</a:t>
            </a:r>
          </a:p>
          <a:p>
            <a:r>
              <a:rPr lang="en-US" dirty="0"/>
              <a:t>To achieve this, we defined several objectives:</a:t>
            </a:r>
          </a:p>
          <a:p>
            <a:r>
              <a:rPr lang="en-US" dirty="0"/>
              <a:t>First, training a CNN model to accurately classify Kannada </a:t>
            </a:r>
            <a:r>
              <a:rPr lang="en-US" dirty="0" err="1"/>
              <a:t>Vyanjanagalu</a:t>
            </a:r>
            <a:r>
              <a:rPr lang="en-US" dirty="0"/>
              <a:t> gestures.</a:t>
            </a:r>
          </a:p>
          <a:p>
            <a:r>
              <a:rPr lang="en-US" dirty="0"/>
              <a:t>Second, designing a lightweight NLP module capable of forming meaningful Kannada text using rules for vowel attachment and </a:t>
            </a:r>
            <a:r>
              <a:rPr lang="en-US" dirty="0" err="1"/>
              <a:t>vattakshara</a:t>
            </a:r>
            <a:r>
              <a:rPr lang="en-US" dirty="0"/>
              <a:t>.</a:t>
            </a:r>
          </a:p>
          <a:p>
            <a:r>
              <a:rPr lang="en-US" dirty="0"/>
              <a:t>Third, integrating Web Speech API and </a:t>
            </a:r>
            <a:r>
              <a:rPr lang="en-US" dirty="0" err="1"/>
              <a:t>gTTS</a:t>
            </a:r>
            <a:r>
              <a:rPr lang="en-US" dirty="0"/>
              <a:t> for Kannada speech output.</a:t>
            </a:r>
          </a:p>
          <a:p>
            <a:r>
              <a:rPr lang="en-US" dirty="0"/>
              <a:t>Finally, ensuring low latency through efficient backend processing and a web-based interface.”</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ef2bf8d45_4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ef2bf8d45_4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“In the literature survey, we observed that CNN-based systems outperform traditional approaches for hand gesture recognition. Several researchers used CNN, LSTM, and </a:t>
            </a:r>
            <a:r>
              <a:rPr lang="en-US" dirty="0" err="1"/>
              <a:t>MediaPipe</a:t>
            </a:r>
            <a:r>
              <a:rPr lang="en-US" dirty="0"/>
              <a:t> for ASL and ISL translation. For example, Bayrak et al. achieved high accuracy using complex-valued neural networks, while Boobal et al. developed a real-time ISL-to-speech converter combining CNN and NLP.</a:t>
            </a:r>
          </a:p>
          <a:p>
            <a:r>
              <a:rPr lang="en-US" dirty="0"/>
              <a:t>However, none of these works focus on Kannada Sign Language. Kannada has different hand shapes and unique script rules. This gap motivated us to design a dedicated model, dataset integration, and NLP module tailored specifically for Kannada.”</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79964ac74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9964ac74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Our system consists of five major modules: frame capture, preprocessing, gesture classification, Kannada text generation, and speech output.</a:t>
            </a:r>
          </a:p>
          <a:p>
            <a:r>
              <a:rPr lang="en-US" dirty="0"/>
              <a:t>In the analysis phase, we identified that CNN would be suitable for recognizing static Kannada consonant gestures. We also needed NLP rules for constructing Kannada words because the script requires combining consonants and vowels properly.</a:t>
            </a:r>
          </a:p>
          <a:p>
            <a:r>
              <a:rPr lang="en-US" dirty="0"/>
              <a:t>In the design phase, we created a pipeline where webcam frames are captured by a React-based frontend and sent to a </a:t>
            </a:r>
            <a:r>
              <a:rPr lang="en-US" dirty="0" err="1"/>
              <a:t>FastAPI</a:t>
            </a:r>
            <a:r>
              <a:rPr lang="en-US" dirty="0"/>
              <a:t> backend through </a:t>
            </a:r>
            <a:r>
              <a:rPr lang="en-US" dirty="0" err="1"/>
              <a:t>WebSockets</a:t>
            </a:r>
            <a:r>
              <a:rPr lang="en-US" dirty="0"/>
              <a:t>. The backend performs CNN inference and NLP processing, and returns the final Kannada text, which is then converted to speech. This modular design made the system efficient and scalable.”</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9964ac747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9964ac747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system was implemented using Python, TensorFlow/</a:t>
            </a:r>
            <a:r>
              <a:rPr lang="en-US" dirty="0" err="1"/>
              <a:t>Keras</a:t>
            </a:r>
            <a:r>
              <a:rPr lang="en-US" dirty="0"/>
              <a:t> for model training, OpenCV for preprocessing, </a:t>
            </a:r>
            <a:r>
              <a:rPr lang="en-US" dirty="0" err="1"/>
              <a:t>FastAPI</a:t>
            </a:r>
            <a:r>
              <a:rPr lang="en-US" dirty="0"/>
              <a:t> for backend processing, and React.js for the user interface.</a:t>
            </a:r>
          </a:p>
          <a:p>
            <a:r>
              <a:rPr lang="en-US" dirty="0"/>
              <a:t>We resized all images to 64×64 and applied data augmentation to improve robustness. The model was trained using Adam optimizer and categorical cross-entropy.</a:t>
            </a:r>
          </a:p>
          <a:p>
            <a:r>
              <a:rPr lang="en-US" dirty="0"/>
              <a:t>Testing was conducted both on the dataset and with live webcam input. We validated performance under different lighting conditions, backgrounds, and signer variations. We also measured metrics such as accuracy, precision, recall, F1-score, and latency to ensure real-time capability.”</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9d3ba0721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9d3ba0721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“Our results were very promising. The model achieved </a:t>
            </a:r>
            <a:r>
              <a:rPr lang="en-US" b="1" dirty="0"/>
              <a:t>97.6% accuracy</a:t>
            </a:r>
            <a:r>
              <a:rPr lang="en-US" dirty="0"/>
              <a:t> with high precision and recall, showing strong classification performance. The average latency was around </a:t>
            </a:r>
            <a:r>
              <a:rPr lang="en-US" b="1" dirty="0"/>
              <a:t>150 to 180 milliseconds</a:t>
            </a:r>
            <a:r>
              <a:rPr lang="en-US" dirty="0"/>
              <a:t>, allowing smooth real-time operation at </a:t>
            </a:r>
            <a:r>
              <a:rPr lang="en-US" b="1" dirty="0"/>
              <a:t>5–6 FPS</a:t>
            </a:r>
            <a:r>
              <a:rPr lang="en-US" dirty="0"/>
              <a:t>.</a:t>
            </a:r>
          </a:p>
          <a:p>
            <a:r>
              <a:rPr lang="en-US" dirty="0"/>
              <a:t>The NLP module worked effectively in generating proper Kannada text by handling vowel attachment and reduplication. A few misclassifications were observed, mainly due to similar hand shapes or poor lighting.</a:t>
            </a:r>
          </a:p>
          <a:p>
            <a:r>
              <a:rPr lang="en-US" dirty="0"/>
              <a:t>Overall, the system demonstrated robust end-to-end translation from gesture to text to speech, proving its usefulness for real-time communication.”</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ef2bf8d45_4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ef2bf8d45_4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“In conclusion, we successfully developed a real-time Kannada Sign Language recognition system that integrates deep learning, NLP, and speech synthesis. Our model is accurate, fast, and works directly in the browser without requiring additional software.</a:t>
            </a:r>
          </a:p>
          <a:p>
            <a:r>
              <a:rPr lang="en-US" dirty="0"/>
              <a:t>For future scope, we plan to extend the system to recognize vowels, compound letters, and continuous gestures. We also aim to integrate facial expression recognition for more natural translation. Finally, we want to deploy a lightweight mobile version so that users can access it on any device.”</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5ef2bf8d45_4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5ef2bf8d45_4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5ef2bf8d45_4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5ef2bf8d45_4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ef2bf8d45_4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ef2bf8d45_4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2" name="Google Shape;2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9" name="Google Shape;29;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3" name="Google Shape;3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
        <p:cNvGrpSpPr/>
        <p:nvPr/>
      </p:nvGrpSpPr>
      <p:grpSpPr>
        <a:xfrm>
          <a:off x="0" y="0"/>
          <a:ext cx="0" cy="0"/>
          <a:chOff x="0" y="0"/>
          <a:chExt cx="0" cy="0"/>
        </a:xfrm>
      </p:grpSpPr>
      <p:sp>
        <p:nvSpPr>
          <p:cNvPr id="41" name="Google Shape;4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2" name="Google Shape;4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sp>
        <p:nvSpPr>
          <p:cNvPr id="44" name="Google Shape;4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6" name="Google Shape;4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12"/>
          <p:cNvSpPr txBox="1"/>
          <p:nvPr/>
        </p:nvSpPr>
        <p:spPr>
          <a:xfrm>
            <a:off x="2243550" y="4629175"/>
            <a:ext cx="4656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200" b="1">
                <a:solidFill>
                  <a:schemeClr val="dk2"/>
                </a:solidFill>
                <a:latin typeface="Times New Roman"/>
                <a:ea typeface="Times New Roman"/>
                <a:cs typeface="Times New Roman"/>
                <a:sym typeface="Times New Roman"/>
              </a:rPr>
              <a:t>Dept of CSE</a:t>
            </a:r>
            <a:endParaRPr sz="1200" b="1">
              <a:solidFill>
                <a:schemeClr val="dk2"/>
              </a:solidFill>
              <a:latin typeface="Times New Roman"/>
              <a:ea typeface="Times New Roman"/>
              <a:cs typeface="Times New Roman"/>
              <a:sym typeface="Times New Roman"/>
            </a:endParaRPr>
          </a:p>
        </p:txBody>
      </p:sp>
      <p:sp>
        <p:nvSpPr>
          <p:cNvPr id="49" name="Google Shape;49;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91E370-D35A-485C-AFD9-DD2D7B4557F6}"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4257402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91E370-D35A-485C-AFD9-DD2D7B4557F6}"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400165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91E370-D35A-485C-AFD9-DD2D7B4557F6}"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271205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A91E370-D35A-485C-AFD9-DD2D7B4557F6}"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772341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A91E370-D35A-485C-AFD9-DD2D7B4557F6}" type="datetimeFigureOut">
              <a:rPr lang="en-IN" smtClean="0"/>
              <a:t>07-01-2026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4358874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A91E370-D35A-485C-AFD9-DD2D7B4557F6}" type="datetimeFigureOut">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26943551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91E370-D35A-485C-AFD9-DD2D7B4557F6}" type="datetimeFigureOut">
              <a:rPr lang="en-IN" smtClean="0"/>
              <a:t>07-01-2026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7765711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A91E370-D35A-485C-AFD9-DD2D7B4557F6}"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2246557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A91E370-D35A-485C-AFD9-DD2D7B4557F6}"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7100630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91E370-D35A-485C-AFD9-DD2D7B4557F6}"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2313317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91E370-D35A-485C-AFD9-DD2D7B4557F6}"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268340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A91E370-D35A-485C-AFD9-DD2D7B4557F6}" type="datetimeFigureOut">
              <a:rPr lang="en-IN" smtClean="0"/>
              <a:t>07-01-2026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17BC0C0-1077-498E-9B43-B65C881799C0}" type="slidenum">
              <a:rPr lang="en-IN" smtClean="0"/>
              <a:t>‹#›</a:t>
            </a:fld>
            <a:endParaRPr lang="en-IN"/>
          </a:p>
        </p:txBody>
      </p:sp>
    </p:spTree>
    <p:extLst>
      <p:ext uri="{BB962C8B-B14F-4D97-AF65-F5344CB8AC3E}">
        <p14:creationId xmlns:p14="http://schemas.microsoft.com/office/powerpoint/2010/main" val="32787668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712300" y="2068864"/>
            <a:ext cx="5719397" cy="567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ctr" anchorCtr="0" compatLnSpc="1">
            <a:prstTxWarp prst="textNoShape">
              <a:avLst/>
            </a:prstTxWarp>
            <a:spAutoFit/>
          </a:bodyPr>
          <a:lstStyle/>
          <a:p>
            <a:pPr lvl="0">
              <a:spcBef>
                <a:spcPts val="0"/>
              </a:spcBef>
            </a:pPr>
            <a:r>
              <a:rPr lang="en-US" sz="1800" b="1" dirty="0">
                <a:latin typeface="Times New Roman"/>
                <a:ea typeface="Times New Roman"/>
                <a:cs typeface="Times New Roman"/>
                <a:sym typeface="Times New Roman"/>
              </a:rPr>
              <a:t>Deep Learning and NLP-Based Real-Time Sign Language Recognition and Contextual Conversion</a:t>
            </a:r>
            <a:endParaRPr lang="en-US" altLang="en-US" sz="1800" dirty="0">
              <a:solidFill>
                <a:srgbClr val="002060"/>
              </a:solidFill>
              <a:latin typeface="Times New Roman" panose="02020603050405020304" pitchFamily="18" charset="0"/>
              <a:cs typeface="Times New Roman" panose="02020603050405020304" pitchFamily="18" charset="0"/>
            </a:endParaRPr>
          </a:p>
        </p:txBody>
      </p:sp>
      <p:pic>
        <p:nvPicPr>
          <p:cNvPr id="1039" name="Picture 14" descr="DBIT_ry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074" y="39026"/>
            <a:ext cx="702746" cy="79487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7" descr="w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4798" y="78963"/>
            <a:ext cx="715005" cy="715004"/>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flipV="1">
            <a:off x="0" y="1018571"/>
            <a:ext cx="9144000" cy="42017"/>
          </a:xfrm>
          <a:prstGeom prst="line">
            <a:avLst/>
          </a:prstGeom>
          <a:noFill/>
          <a:ln w="22225" cap="flat" cmpd="sng" algn="ctr">
            <a:solidFill>
              <a:srgbClr val="4F81BD">
                <a:shade val="95000"/>
                <a:satMod val="105000"/>
                <a:alpha val="98000"/>
              </a:srgbClr>
            </a:solidFill>
            <a:prstDash val="solid"/>
          </a:ln>
          <a:effectLst/>
        </p:spPr>
      </p:cxnSp>
      <p:sp>
        <p:nvSpPr>
          <p:cNvPr id="13" name="Rectangle 17"/>
          <p:cNvSpPr>
            <a:spLocks noChangeArrowheads="1"/>
          </p:cNvSpPr>
          <p:nvPr/>
        </p:nvSpPr>
        <p:spPr bwMode="auto">
          <a:xfrm>
            <a:off x="1180368" y="369257"/>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buClrTx/>
            </a:pPr>
            <a:endParaRPr lang="en-IN" sz="1350" kern="1200">
              <a:solidFill>
                <a:prstClr val="black"/>
              </a:solidFill>
              <a:latin typeface="Calibri" panose="020F0502020204030204"/>
              <a:ea typeface="+mn-ea"/>
              <a:cs typeface="+mn-cs"/>
            </a:endParaRPr>
          </a:p>
        </p:txBody>
      </p:sp>
      <p:sp>
        <p:nvSpPr>
          <p:cNvPr id="15" name="Rectangle 18"/>
          <p:cNvSpPr>
            <a:spLocks noChangeArrowheads="1"/>
          </p:cNvSpPr>
          <p:nvPr/>
        </p:nvSpPr>
        <p:spPr bwMode="auto">
          <a:xfrm>
            <a:off x="2362194" y="118325"/>
            <a:ext cx="4419607"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ctr" defTabSz="685800" eaLnBrk="0" fontAlgn="base" hangingPunct="0">
              <a:spcBef>
                <a:spcPct val="0"/>
              </a:spcBef>
              <a:spcAft>
                <a:spcPct val="0"/>
              </a:spcAft>
              <a:buClrTx/>
            </a:pPr>
            <a:r>
              <a:rPr lang="en-US" altLang="en-US" sz="900" kern="1200" dirty="0" err="1">
                <a:solidFill>
                  <a:prstClr val="black"/>
                </a:solidFill>
                <a:latin typeface="Copperplate Gothic Bold" panose="020E0705020206020404" pitchFamily="34" charset="0"/>
                <a:ea typeface="Times New Roman" panose="02020603050405020304" pitchFamily="18" charset="0"/>
                <a:cs typeface="+mn-cs"/>
              </a:rPr>
              <a:t>Wayanamac</a:t>
            </a:r>
            <a:r>
              <a:rPr lang="en-US" altLang="en-US" sz="900" kern="1200" dirty="0">
                <a:solidFill>
                  <a:prstClr val="black"/>
                </a:solidFill>
                <a:latin typeface="Copperplate Gothic Bold" panose="020E0705020206020404" pitchFamily="34" charset="0"/>
                <a:ea typeface="Times New Roman" panose="02020603050405020304" pitchFamily="18" charset="0"/>
                <a:cs typeface="+mn-cs"/>
              </a:rPr>
              <a:t> Education Trust </a:t>
            </a:r>
            <a:r>
              <a:rPr lang="en-US" altLang="en-US" sz="900" kern="1200" baseline="30000" dirty="0">
                <a:solidFill>
                  <a:prstClr val="black"/>
                </a:solidFill>
                <a:latin typeface="Copperplate Gothic Bold" panose="020E0705020206020404" pitchFamily="34" charset="0"/>
                <a:ea typeface="Times New Roman" panose="02020603050405020304" pitchFamily="18" charset="0"/>
                <a:cs typeface="+mn-cs"/>
              </a:rPr>
              <a:t>(R)</a:t>
            </a:r>
            <a:endParaRPr lang="en-US" altLang="en-US" sz="800" kern="1200" dirty="0">
              <a:solidFill>
                <a:prstClr val="black"/>
              </a:solidFill>
              <a:latin typeface="Calibri" panose="020F0502020204030204"/>
              <a:ea typeface="+mn-ea"/>
              <a:cs typeface="+mn-cs"/>
            </a:endParaRPr>
          </a:p>
          <a:p>
            <a:pPr algn="ctr" defTabSz="685800" eaLnBrk="0" fontAlgn="base" hangingPunct="0">
              <a:spcBef>
                <a:spcPct val="0"/>
              </a:spcBef>
              <a:spcAft>
                <a:spcPct val="0"/>
              </a:spcAft>
              <a:buClrTx/>
            </a:pPr>
            <a:r>
              <a:rPr lang="en-US" altLang="en-US" sz="1600" b="1" kern="1200" dirty="0">
                <a:solidFill>
                  <a:srgbClr val="0070BF"/>
                </a:solidFill>
                <a:latin typeface="Arial" panose="020B0604020202020204" pitchFamily="34" charset="0"/>
                <a:ea typeface="Times New Roman" panose="02020603050405020304" pitchFamily="18" charset="0"/>
                <a:cs typeface="+mn-cs"/>
              </a:rPr>
              <a:t>DON BOSCO INSTITUTE OF TECHNOLOGY </a:t>
            </a:r>
            <a:endParaRPr lang="en-US" altLang="en-US" sz="800" kern="1200" dirty="0">
              <a:solidFill>
                <a:prstClr val="black"/>
              </a:solidFill>
              <a:latin typeface="Arial" panose="020B0604020202020204" pitchFamily="34" charset="0"/>
              <a:ea typeface="+mn-ea"/>
              <a:cs typeface="+mn-cs"/>
            </a:endParaRPr>
          </a:p>
          <a:p>
            <a:pPr algn="ctr" defTabSz="685800" eaLnBrk="0" fontAlgn="base" hangingPunct="0">
              <a:spcBef>
                <a:spcPct val="0"/>
              </a:spcBef>
              <a:spcAft>
                <a:spcPct val="0"/>
              </a:spcAft>
              <a:buClrTx/>
            </a:pPr>
            <a:r>
              <a:rPr lang="en-US" altLang="en-US" sz="1000" kern="1200" dirty="0">
                <a:solidFill>
                  <a:srgbClr val="0070C0"/>
                </a:solidFill>
                <a:latin typeface="Arial" panose="020B0604020202020204" pitchFamily="34" charset="0"/>
                <a:ea typeface="Times New Roman" panose="02020603050405020304" pitchFamily="18" charset="0"/>
                <a:cs typeface="+mn-cs"/>
              </a:rPr>
              <a:t>An Autonomous Institute under VTU, Approved by AICTE, New Delhi,</a:t>
            </a:r>
            <a:endParaRPr lang="en-US" altLang="en-US" sz="800" kern="1200" dirty="0">
              <a:solidFill>
                <a:prstClr val="black"/>
              </a:solidFill>
              <a:latin typeface="Arial" panose="020B0604020202020204" pitchFamily="34" charset="0"/>
              <a:ea typeface="+mn-ea"/>
              <a:cs typeface="+mn-cs"/>
            </a:endParaRPr>
          </a:p>
          <a:p>
            <a:pPr algn="ctr" defTabSz="685800" eaLnBrk="0" fontAlgn="base" hangingPunct="0">
              <a:spcBef>
                <a:spcPct val="0"/>
              </a:spcBef>
              <a:spcAft>
                <a:spcPct val="0"/>
              </a:spcAft>
              <a:buClrTx/>
            </a:pPr>
            <a:r>
              <a:rPr lang="en-US" altLang="en-US" sz="1000" kern="1200" dirty="0">
                <a:solidFill>
                  <a:srgbClr val="0070C0"/>
                </a:solidFill>
                <a:latin typeface="Arial" panose="020B0604020202020204" pitchFamily="34" charset="0"/>
                <a:ea typeface="Times New Roman" panose="02020603050405020304" pitchFamily="18" charset="0"/>
                <a:cs typeface="+mn-cs"/>
              </a:rPr>
              <a:t>Recognized by Govt. of Karnataka, Accredited by NAAC &amp; NBA</a:t>
            </a:r>
            <a:endParaRPr lang="en-US" altLang="en-US" sz="800" kern="1200" dirty="0">
              <a:solidFill>
                <a:prstClr val="black"/>
              </a:solidFill>
              <a:latin typeface="Arial" panose="020B0604020202020204" pitchFamily="34" charset="0"/>
              <a:ea typeface="+mn-ea"/>
              <a:cs typeface="+mn-cs"/>
            </a:endParaRPr>
          </a:p>
          <a:p>
            <a:pPr algn="ctr" defTabSz="685800" eaLnBrk="0" fontAlgn="base" hangingPunct="0">
              <a:spcBef>
                <a:spcPct val="0"/>
              </a:spcBef>
              <a:spcAft>
                <a:spcPct val="0"/>
              </a:spcAft>
              <a:buClrTx/>
            </a:pPr>
            <a:r>
              <a:rPr lang="en-US" altLang="en-US" sz="900" kern="1200" dirty="0">
                <a:solidFill>
                  <a:prstClr val="black"/>
                </a:solidFill>
                <a:latin typeface="Arial" panose="020B0604020202020204" pitchFamily="34" charset="0"/>
                <a:ea typeface="Times New Roman" panose="02020603050405020304" pitchFamily="18" charset="0"/>
                <a:cs typeface="+mn-cs"/>
              </a:rPr>
              <a:t>Mysore Road, </a:t>
            </a:r>
            <a:r>
              <a:rPr lang="en-US" altLang="en-US" sz="900" kern="1200" dirty="0" err="1">
                <a:solidFill>
                  <a:prstClr val="black"/>
                </a:solidFill>
                <a:latin typeface="Arial" panose="020B0604020202020204" pitchFamily="34" charset="0"/>
                <a:ea typeface="Times New Roman" panose="02020603050405020304" pitchFamily="18" charset="0"/>
                <a:cs typeface="+mn-cs"/>
              </a:rPr>
              <a:t>Kumbalagodu</a:t>
            </a:r>
            <a:r>
              <a:rPr lang="en-US" altLang="en-US" sz="900" kern="1200" dirty="0">
                <a:solidFill>
                  <a:prstClr val="black"/>
                </a:solidFill>
                <a:latin typeface="Arial" panose="020B0604020202020204" pitchFamily="34" charset="0"/>
                <a:ea typeface="Times New Roman" panose="02020603050405020304" pitchFamily="18" charset="0"/>
                <a:cs typeface="+mn-cs"/>
              </a:rPr>
              <a:t>, Bengaluru-560 074.</a:t>
            </a:r>
            <a:endParaRPr lang="en-US" altLang="en-US" sz="1600" kern="1200" dirty="0">
              <a:solidFill>
                <a:prstClr val="black"/>
              </a:solidFill>
              <a:latin typeface="Arial" panose="020B0604020202020204" pitchFamily="34" charset="0"/>
              <a:ea typeface="+mn-ea"/>
              <a:cs typeface="+mn-cs"/>
            </a:endParaRPr>
          </a:p>
        </p:txBody>
      </p:sp>
      <p:sp>
        <p:nvSpPr>
          <p:cNvPr id="22" name="Rectangle 21"/>
          <p:cNvSpPr/>
          <p:nvPr/>
        </p:nvSpPr>
        <p:spPr>
          <a:xfrm>
            <a:off x="5459581" y="3214699"/>
            <a:ext cx="2730689" cy="1213153"/>
          </a:xfrm>
          <a:prstGeom prst="rect">
            <a:avLst/>
          </a:prstGeom>
        </p:spPr>
        <p:txBody>
          <a:bodyPr wrap="square">
            <a:spAutoFit/>
          </a:bodyPr>
          <a:lstStyle/>
          <a:p>
            <a:pPr defTabSz="685800">
              <a:buClrTx/>
            </a:pPr>
            <a:r>
              <a:rPr lang="en-US" altLang="en-US" sz="1050" b="1" kern="1200" dirty="0">
                <a:solidFill>
                  <a:prstClr val="black">
                    <a:lumMod val="75000"/>
                    <a:lumOff val="25000"/>
                  </a:prstClr>
                </a:solidFill>
                <a:latin typeface="Times New Roman" panose="02020603050405020304" pitchFamily="18" charset="0"/>
                <a:ea typeface="+mn-ea"/>
                <a:cs typeface="Times New Roman" panose="02020603050405020304" pitchFamily="18" charset="0"/>
              </a:rPr>
              <a:t>Team Members:</a:t>
            </a:r>
          </a:p>
          <a:p>
            <a:pPr lvl="0">
              <a:lnSpc>
                <a:spcPct val="115000"/>
              </a:lnSpc>
              <a:spcBef>
                <a:spcPts val="600"/>
              </a:spcBef>
              <a:buClr>
                <a:schemeClr val="dk1"/>
              </a:buClr>
              <a:buSzPts val="1100"/>
            </a:pPr>
            <a:r>
              <a:rPr lang="en-GB" sz="1050" b="1" dirty="0">
                <a:solidFill>
                  <a:schemeClr val="dk1"/>
                </a:solidFill>
                <a:latin typeface="Times New Roman" panose="02020603050405020304" pitchFamily="18" charset="0"/>
                <a:ea typeface="Times New Roman"/>
                <a:cs typeface="Times New Roman" panose="02020603050405020304" pitchFamily="18" charset="0"/>
                <a:sym typeface="Times New Roman"/>
              </a:rPr>
              <a:t>KRUTHIKA  D                                  </a:t>
            </a:r>
          </a:p>
          <a:p>
            <a:pPr lvl="0">
              <a:lnSpc>
                <a:spcPct val="115000"/>
              </a:lnSpc>
              <a:spcBef>
                <a:spcPts val="600"/>
              </a:spcBef>
              <a:buClr>
                <a:schemeClr val="dk1"/>
              </a:buClr>
              <a:buSzPts val="1100"/>
            </a:pPr>
            <a:r>
              <a:rPr lang="en-GB" sz="1050" b="1" dirty="0">
                <a:solidFill>
                  <a:schemeClr val="dk1"/>
                </a:solidFill>
                <a:latin typeface="Times New Roman" panose="02020603050405020304" pitchFamily="18" charset="0"/>
                <a:ea typeface="Times New Roman"/>
                <a:cs typeface="Times New Roman" panose="02020603050405020304" pitchFamily="18" charset="0"/>
                <a:sym typeface="Times New Roman"/>
              </a:rPr>
              <a:t>MOHAMMED AJMAL HUSSAIN </a:t>
            </a:r>
          </a:p>
          <a:p>
            <a:pPr lvl="0">
              <a:lnSpc>
                <a:spcPct val="115000"/>
              </a:lnSpc>
              <a:spcBef>
                <a:spcPts val="300"/>
              </a:spcBef>
              <a:buClr>
                <a:schemeClr val="dk1"/>
              </a:buClr>
              <a:buSzPts val="1100"/>
            </a:pPr>
            <a:r>
              <a:rPr lang="en-GB" sz="1050" b="1" dirty="0">
                <a:solidFill>
                  <a:schemeClr val="dk1"/>
                </a:solidFill>
                <a:latin typeface="Times New Roman" panose="02020603050405020304" pitchFamily="18" charset="0"/>
                <a:ea typeface="Times New Roman"/>
                <a:cs typeface="Times New Roman" panose="02020603050405020304" pitchFamily="18" charset="0"/>
                <a:sym typeface="Times New Roman"/>
              </a:rPr>
              <a:t>PRAGATH R                                     </a:t>
            </a:r>
          </a:p>
          <a:p>
            <a:pPr lvl="0">
              <a:lnSpc>
                <a:spcPct val="115000"/>
              </a:lnSpc>
              <a:spcBef>
                <a:spcPts val="300"/>
              </a:spcBef>
            </a:pPr>
            <a:r>
              <a:rPr lang="en-GB" sz="1050" b="1" dirty="0">
                <a:solidFill>
                  <a:schemeClr val="dk1"/>
                </a:solidFill>
                <a:latin typeface="Times New Roman" panose="02020603050405020304" pitchFamily="18" charset="0"/>
                <a:ea typeface="Times New Roman"/>
                <a:cs typeface="Times New Roman" panose="02020603050405020304" pitchFamily="18" charset="0"/>
                <a:sym typeface="Times New Roman"/>
              </a:rPr>
              <a:t>PRAJWALANISH V   </a:t>
            </a:r>
          </a:p>
        </p:txBody>
      </p:sp>
      <p:sp>
        <p:nvSpPr>
          <p:cNvPr id="2" name="TextBox 1">
            <a:extLst>
              <a:ext uri="{FF2B5EF4-FFF2-40B4-BE49-F238E27FC236}">
                <a16:creationId xmlns:a16="http://schemas.microsoft.com/office/drawing/2014/main" id="{04AD2BF8-EA06-3F6A-40BE-99BE6D10AA03}"/>
              </a:ext>
            </a:extLst>
          </p:cNvPr>
          <p:cNvSpPr txBox="1"/>
          <p:nvPr/>
        </p:nvSpPr>
        <p:spPr>
          <a:xfrm>
            <a:off x="1023267" y="3214699"/>
            <a:ext cx="2351315" cy="577081"/>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Guide:</a:t>
            </a:r>
          </a:p>
          <a:p>
            <a:r>
              <a:rPr lang="en-GB" sz="1050" b="1" dirty="0">
                <a:solidFill>
                  <a:schemeClr val="dk1"/>
                </a:solidFill>
                <a:latin typeface="Times New Roman" panose="02020603050405020304" pitchFamily="18" charset="0"/>
                <a:ea typeface="Times New Roman"/>
                <a:cs typeface="Times New Roman" panose="02020603050405020304" pitchFamily="18" charset="0"/>
                <a:sym typeface="Times New Roman"/>
              </a:rPr>
              <a:t>Dr. VENUGEETHA Y                      </a:t>
            </a:r>
          </a:p>
          <a:p>
            <a:endParaRPr lang="en-IN" sz="105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14565DA-8EC9-0842-3226-A8E41AAE71B4}"/>
              </a:ext>
            </a:extLst>
          </p:cNvPr>
          <p:cNvSpPr txBox="1"/>
          <p:nvPr/>
        </p:nvSpPr>
        <p:spPr>
          <a:xfrm>
            <a:off x="3126920" y="1456520"/>
            <a:ext cx="2890158" cy="52322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Major Project – Phase 2</a:t>
            </a:r>
          </a:p>
          <a:p>
            <a:pPr algn="ctr"/>
            <a:r>
              <a:rPr lang="en-IN" b="1" dirty="0">
                <a:latin typeface="Times New Roman" panose="02020603050405020304" pitchFamily="18" charset="0"/>
                <a:cs typeface="Times New Roman" panose="02020603050405020304" pitchFamily="18" charset="0"/>
              </a:rPr>
              <a:t>External Examination 20-25-26</a:t>
            </a:r>
          </a:p>
        </p:txBody>
      </p:sp>
    </p:spTree>
    <p:extLst>
      <p:ext uri="{BB962C8B-B14F-4D97-AF65-F5344CB8AC3E}">
        <p14:creationId xmlns:p14="http://schemas.microsoft.com/office/powerpoint/2010/main" val="1695762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p:nvPr/>
        </p:nvSpPr>
        <p:spPr>
          <a:xfrm>
            <a:off x="3072000" y="53675"/>
            <a:ext cx="3000000" cy="723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3500" u="sng">
                <a:solidFill>
                  <a:schemeClr val="dk1"/>
                </a:solidFill>
                <a:latin typeface="Times New Roman"/>
                <a:ea typeface="Times New Roman"/>
                <a:cs typeface="Times New Roman"/>
                <a:sym typeface="Times New Roman"/>
              </a:rPr>
              <a:t>AGENDA</a:t>
            </a:r>
            <a:endParaRPr sz="3500" u="sng">
              <a:solidFill>
                <a:schemeClr val="dk1"/>
              </a:solidFill>
              <a:latin typeface="Times New Roman"/>
              <a:ea typeface="Times New Roman"/>
              <a:cs typeface="Times New Roman"/>
              <a:sym typeface="Times New Roman"/>
            </a:endParaRPr>
          </a:p>
        </p:txBody>
      </p:sp>
      <p:sp>
        <p:nvSpPr>
          <p:cNvPr id="66" name="Google Shape;66;p15"/>
          <p:cNvSpPr txBox="1"/>
          <p:nvPr/>
        </p:nvSpPr>
        <p:spPr>
          <a:xfrm>
            <a:off x="679825" y="776975"/>
            <a:ext cx="4759800" cy="3481800"/>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120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Introduction</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Problem Statement</a:t>
            </a:r>
            <a:br>
              <a:rPr lang="en-GB" sz="2100" dirty="0">
                <a:solidFill>
                  <a:schemeClr val="dk1"/>
                </a:solidFill>
                <a:latin typeface="Times New Roman"/>
                <a:ea typeface="Times New Roman"/>
                <a:cs typeface="Times New Roman"/>
                <a:sym typeface="Times New Roman"/>
              </a:rPr>
            </a:br>
            <a:r>
              <a:rPr lang="en-GB" sz="2100" b="1" dirty="0">
                <a:solidFill>
                  <a:schemeClr val="dk1"/>
                </a:solidFill>
                <a:latin typeface="Times New Roman"/>
                <a:ea typeface="Times New Roman"/>
                <a:cs typeface="Times New Roman"/>
                <a:sym typeface="Times New Roman"/>
              </a:rPr>
              <a:t>–</a:t>
            </a:r>
            <a:r>
              <a:rPr lang="en-GB" sz="2100" dirty="0">
                <a:solidFill>
                  <a:schemeClr val="dk1"/>
                </a:solidFill>
                <a:latin typeface="Times New Roman"/>
                <a:ea typeface="Times New Roman"/>
                <a:cs typeface="Times New Roman"/>
                <a:sym typeface="Times New Roman"/>
              </a:rPr>
              <a:t> Aim and Objectives</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Literature Survey</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System Analysis and Design</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Implementation and Testing</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Result and Discussion</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Conclusion and Future Scope</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GB" sz="2100" dirty="0">
                <a:solidFill>
                  <a:schemeClr val="dk1"/>
                </a:solidFill>
                <a:latin typeface="Times New Roman"/>
                <a:ea typeface="Times New Roman"/>
                <a:cs typeface="Times New Roman"/>
                <a:sym typeface="Times New Roman"/>
              </a:rPr>
              <a:t>References</a:t>
            </a:r>
            <a:endParaRPr sz="21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p:nvPr/>
        </p:nvSpPr>
        <p:spPr>
          <a:xfrm>
            <a:off x="2619300" y="0"/>
            <a:ext cx="3905400" cy="692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3300" u="sng" dirty="0">
                <a:solidFill>
                  <a:schemeClr val="dk1"/>
                </a:solidFill>
                <a:latin typeface="Times New Roman"/>
                <a:ea typeface="Times New Roman"/>
                <a:cs typeface="Times New Roman"/>
                <a:sym typeface="Times New Roman"/>
              </a:rPr>
              <a:t>INTRODUCTION</a:t>
            </a:r>
            <a:endParaRPr sz="3300" u="sng" dirty="0">
              <a:solidFill>
                <a:schemeClr val="dk1"/>
              </a:solidFill>
              <a:latin typeface="Times New Roman"/>
              <a:ea typeface="Times New Roman"/>
              <a:cs typeface="Times New Roman"/>
              <a:sym typeface="Times New Roman"/>
            </a:endParaRPr>
          </a:p>
        </p:txBody>
      </p:sp>
      <p:sp>
        <p:nvSpPr>
          <p:cNvPr id="72" name="Google Shape;72;p16"/>
          <p:cNvSpPr txBox="1"/>
          <p:nvPr/>
        </p:nvSpPr>
        <p:spPr>
          <a:xfrm>
            <a:off x="611250" y="940549"/>
            <a:ext cx="7921500" cy="3262401"/>
          </a:xfrm>
          <a:prstGeom prst="rect">
            <a:avLst/>
          </a:prstGeom>
          <a:noFill/>
          <a:ln>
            <a:noFill/>
          </a:ln>
        </p:spPr>
        <p:txBody>
          <a:bodyPr spcFirstLastPara="1" wrap="square" lIns="91425" tIns="91425" rIns="91425" bIns="91425" anchor="t" anchorCtr="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Kannada Sign Language (KSL) recognition helps reduce communication barriers for Deaf &amp; Hard-of-Hearing (DHH) individuals.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 </a:t>
            </a:r>
            <a:r>
              <a:rPr lang="en-IN" sz="2000" b="1" dirty="0">
                <a:latin typeface="Times New Roman" panose="02020603050405020304" pitchFamily="18" charset="0"/>
                <a:cs typeface="Times New Roman" panose="02020603050405020304" pitchFamily="18" charset="0"/>
              </a:rPr>
              <a:t>466 million people</a:t>
            </a:r>
            <a:r>
              <a:rPr lang="en-IN" sz="2000" dirty="0">
                <a:latin typeface="Times New Roman" panose="02020603050405020304" pitchFamily="18" charset="0"/>
                <a:cs typeface="Times New Roman" panose="02020603050405020304" pitchFamily="18" charset="0"/>
              </a:rPr>
              <a:t> globally experience hearing impairment; regional sign language support remains limited. (2018)</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Deep learning (CNN) and computer vision enable accurate gesture recognition in real time.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NLP-based Kannada text generation allows contextual letter formation (</a:t>
            </a:r>
            <a:r>
              <a:rPr lang="en-IN" sz="2000" dirty="0" err="1">
                <a:latin typeface="Times New Roman" panose="02020603050405020304" pitchFamily="18" charset="0"/>
                <a:cs typeface="Times New Roman" panose="02020603050405020304" pitchFamily="18" charset="0"/>
              </a:rPr>
              <a:t>vattakshara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swara</a:t>
            </a:r>
            <a:r>
              <a:rPr lang="en-IN" sz="2000" dirty="0">
                <a:latin typeface="Times New Roman" panose="02020603050405020304" pitchFamily="18" charset="0"/>
                <a:cs typeface="Times New Roman" panose="02020603050405020304" pitchFamily="18" charset="0"/>
              </a:rPr>
              <a:t> attachment).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Integrated speech synthesis converts recognized signs into natural Kannada audio.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8" name="Google Shape;78;p17"/>
          <p:cNvSpPr txBox="1"/>
          <p:nvPr/>
        </p:nvSpPr>
        <p:spPr>
          <a:xfrm>
            <a:off x="1906500" y="0"/>
            <a:ext cx="5331000" cy="69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300" u="sng" dirty="0">
                <a:solidFill>
                  <a:schemeClr val="dk1"/>
                </a:solidFill>
                <a:latin typeface="Times New Roman"/>
                <a:ea typeface="Times New Roman"/>
                <a:cs typeface="Times New Roman"/>
                <a:sym typeface="Times New Roman"/>
              </a:rPr>
              <a:t>PROBLEM STATEMENT</a:t>
            </a:r>
            <a:endParaRPr sz="3300" dirty="0">
              <a:solidFill>
                <a:schemeClr val="dk1"/>
              </a:solidFill>
              <a:latin typeface="Times New Roman"/>
              <a:ea typeface="Times New Roman"/>
              <a:cs typeface="Times New Roman"/>
              <a:sym typeface="Times New Roman"/>
            </a:endParaRPr>
          </a:p>
        </p:txBody>
      </p:sp>
      <p:sp>
        <p:nvSpPr>
          <p:cNvPr id="4" name="Rectangle 3">
            <a:extLst>
              <a:ext uri="{FF2B5EF4-FFF2-40B4-BE49-F238E27FC236}">
                <a16:creationId xmlns:a16="http://schemas.microsoft.com/office/drawing/2014/main" id="{9D50E2EA-F5D4-4BA7-ECEC-BE79E46AF2C7}"/>
              </a:ext>
            </a:extLst>
          </p:cNvPr>
          <p:cNvSpPr>
            <a:spLocks noChangeArrowheads="1"/>
          </p:cNvSpPr>
          <p:nvPr/>
        </p:nvSpPr>
        <p:spPr bwMode="auto">
          <a:xfrm>
            <a:off x="566928" y="1140589"/>
            <a:ext cx="80101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AI-based real-time solutions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regional sign languages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Kannada Sign Language (KSL).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variability (hand shape, lighting, signer differences) reduces recognition accuracy.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Kannada gesture datasets affect model generalization.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recognition requires low latency and high accuracy — challenging with traditional models.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Kannada script needs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contextual character composition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text generation complex.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p:nvPr/>
        </p:nvSpPr>
        <p:spPr>
          <a:xfrm>
            <a:off x="1772100" y="0"/>
            <a:ext cx="5599800" cy="69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300" u="sng" dirty="0">
                <a:solidFill>
                  <a:schemeClr val="dk1"/>
                </a:solidFill>
                <a:latin typeface="Times New Roman"/>
                <a:ea typeface="Times New Roman"/>
                <a:cs typeface="Times New Roman"/>
                <a:sym typeface="Times New Roman"/>
              </a:rPr>
              <a:t>AIM AND OBJECTIVES</a:t>
            </a:r>
            <a:endParaRPr sz="3300" dirty="0">
              <a:solidFill>
                <a:schemeClr val="dk1"/>
              </a:solidFill>
              <a:latin typeface="Times New Roman"/>
              <a:ea typeface="Times New Roman"/>
              <a:cs typeface="Times New Roman"/>
              <a:sym typeface="Times New Roman"/>
            </a:endParaRPr>
          </a:p>
        </p:txBody>
      </p:sp>
      <p:sp>
        <p:nvSpPr>
          <p:cNvPr id="84" name="Google Shape;84;p18"/>
          <p:cNvSpPr txBox="1"/>
          <p:nvPr/>
        </p:nvSpPr>
        <p:spPr>
          <a:xfrm>
            <a:off x="635100" y="803813"/>
            <a:ext cx="7921800" cy="1554241"/>
          </a:xfrm>
          <a:prstGeom prst="rect">
            <a:avLst/>
          </a:prstGeom>
          <a:noFill/>
          <a:ln>
            <a:noFill/>
          </a:ln>
        </p:spPr>
        <p:txBody>
          <a:bodyPr spcFirstLastPara="1" wrap="square" lIns="91425" tIns="91425" rIns="91425" bIns="91425" anchor="t" anchorCtr="0">
            <a:spAutoFit/>
          </a:bodyPr>
          <a:lstStyle/>
          <a:p>
            <a:pPr lvl="0" algn="just">
              <a:lnSpc>
                <a:spcPct val="115000"/>
              </a:lnSpc>
              <a:spcBef>
                <a:spcPts val="1200"/>
              </a:spcBef>
              <a:spcAft>
                <a:spcPts val="1200"/>
              </a:spcAft>
            </a:pPr>
            <a:r>
              <a:rPr lang="en-GB" sz="2000" b="1" dirty="0">
                <a:latin typeface="Times New Roman"/>
                <a:ea typeface="Times New Roman"/>
                <a:cs typeface="Times New Roman"/>
                <a:sym typeface="Times New Roman"/>
              </a:rPr>
              <a:t>AIM</a:t>
            </a:r>
            <a:r>
              <a:rPr lang="en-GB" sz="1800" b="1" dirty="0">
                <a:latin typeface="Times New Roman"/>
                <a:ea typeface="Times New Roman"/>
                <a:cs typeface="Times New Roman"/>
                <a:sym typeface="Times New Roman"/>
              </a:rPr>
              <a:t>: </a:t>
            </a:r>
            <a:r>
              <a:rPr lang="en-US" sz="2000" dirty="0">
                <a:latin typeface="Times New Roman" panose="02020603050405020304" pitchFamily="18" charset="0"/>
                <a:cs typeface="Times New Roman" panose="02020603050405020304" pitchFamily="18" charset="0"/>
              </a:rPr>
              <a:t>To develop a real-time Kannada Sign Language recognition system that converts hand gestures into meaningful </a:t>
            </a:r>
            <a:r>
              <a:rPr lang="en-US" sz="2000" b="1" dirty="0">
                <a:latin typeface="Times New Roman" panose="02020603050405020304" pitchFamily="18" charset="0"/>
                <a:cs typeface="Times New Roman" panose="02020603050405020304" pitchFamily="18" charset="0"/>
              </a:rPr>
              <a:t>Kannada text and speech</a:t>
            </a:r>
            <a:r>
              <a:rPr lang="en-US" sz="2000" dirty="0">
                <a:latin typeface="Times New Roman" panose="02020603050405020304" pitchFamily="18" charset="0"/>
                <a:cs typeface="Times New Roman" panose="02020603050405020304" pitchFamily="18" charset="0"/>
              </a:rPr>
              <a:t> using deep learning and NLP.</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85" name="Google Shape;85;p18"/>
          <p:cNvSpPr txBox="1"/>
          <p:nvPr/>
        </p:nvSpPr>
        <p:spPr>
          <a:xfrm>
            <a:off x="635100" y="2301825"/>
            <a:ext cx="7921800" cy="238523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GB" sz="2000" b="1" dirty="0">
                <a:latin typeface="Times New Roman"/>
                <a:ea typeface="Times New Roman"/>
                <a:cs typeface="Times New Roman"/>
                <a:sym typeface="Times New Roman"/>
              </a:rPr>
              <a:t>OBJECTIVES: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Train a CNN for accurate KSL </a:t>
            </a:r>
            <a:r>
              <a:rPr lang="en-IN" sz="2000" dirty="0" err="1">
                <a:latin typeface="Times New Roman" panose="02020603050405020304" pitchFamily="18" charset="0"/>
                <a:cs typeface="Times New Roman" panose="02020603050405020304" pitchFamily="18" charset="0"/>
              </a:rPr>
              <a:t>Vyanjanagalu</a:t>
            </a:r>
            <a:r>
              <a:rPr lang="en-IN" sz="2000" dirty="0">
                <a:latin typeface="Times New Roman" panose="02020603050405020304" pitchFamily="18" charset="0"/>
                <a:cs typeface="Times New Roman" panose="02020603050405020304" pitchFamily="18" charset="0"/>
              </a:rPr>
              <a:t> gesture recognition.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 rule-based NLP for Kannada text construction.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 Web Speech API &amp; </a:t>
            </a:r>
            <a:r>
              <a:rPr lang="en-IN" sz="2000" dirty="0" err="1">
                <a:latin typeface="Times New Roman" panose="02020603050405020304" pitchFamily="18" charset="0"/>
                <a:cs typeface="Times New Roman" panose="02020603050405020304" pitchFamily="18" charset="0"/>
              </a:rPr>
              <a:t>gTTS</a:t>
            </a:r>
            <a:r>
              <a:rPr lang="en-IN" sz="2000" dirty="0">
                <a:latin typeface="Times New Roman" panose="02020603050405020304" pitchFamily="18" charset="0"/>
                <a:cs typeface="Times New Roman" panose="02020603050405020304" pitchFamily="18" charset="0"/>
              </a:rPr>
              <a:t> for Kannada speech generation.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Achieve low-latency real-time translation via a web-based interface.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Optimize for robustness across lighting, background, and signer variations.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graphicFrame>
        <p:nvGraphicFramePr>
          <p:cNvPr id="90" name="Google Shape;90;p19"/>
          <p:cNvGraphicFramePr/>
          <p:nvPr>
            <p:extLst>
              <p:ext uri="{D42A27DB-BD31-4B8C-83A1-F6EECF244321}">
                <p14:modId xmlns:p14="http://schemas.microsoft.com/office/powerpoint/2010/main" val="1690300465"/>
              </p:ext>
            </p:extLst>
          </p:nvPr>
        </p:nvGraphicFramePr>
        <p:xfrm>
          <a:off x="152225" y="710929"/>
          <a:ext cx="8839525" cy="3873820"/>
        </p:xfrm>
        <a:graphic>
          <a:graphicData uri="http://schemas.openxmlformats.org/drawingml/2006/table">
            <a:tbl>
              <a:tblPr>
                <a:noFill/>
                <a:tableStyleId>{2E576451-CBC6-474E-A6DB-5440155DC455}</a:tableStyleId>
              </a:tblPr>
              <a:tblGrid>
                <a:gridCol w="1016625">
                  <a:extLst>
                    <a:ext uri="{9D8B030D-6E8A-4147-A177-3AD203B41FA5}">
                      <a16:colId xmlns:a16="http://schemas.microsoft.com/office/drawing/2014/main" val="20000"/>
                    </a:ext>
                  </a:extLst>
                </a:gridCol>
                <a:gridCol w="1807350">
                  <a:extLst>
                    <a:ext uri="{9D8B030D-6E8A-4147-A177-3AD203B41FA5}">
                      <a16:colId xmlns:a16="http://schemas.microsoft.com/office/drawing/2014/main" val="20001"/>
                    </a:ext>
                  </a:extLst>
                </a:gridCol>
                <a:gridCol w="1854425">
                  <a:extLst>
                    <a:ext uri="{9D8B030D-6E8A-4147-A177-3AD203B41FA5}">
                      <a16:colId xmlns:a16="http://schemas.microsoft.com/office/drawing/2014/main" val="20002"/>
                    </a:ext>
                  </a:extLst>
                </a:gridCol>
                <a:gridCol w="950750">
                  <a:extLst>
                    <a:ext uri="{9D8B030D-6E8A-4147-A177-3AD203B41FA5}">
                      <a16:colId xmlns:a16="http://schemas.microsoft.com/office/drawing/2014/main" val="20003"/>
                    </a:ext>
                  </a:extLst>
                </a:gridCol>
                <a:gridCol w="1666150">
                  <a:extLst>
                    <a:ext uri="{9D8B030D-6E8A-4147-A177-3AD203B41FA5}">
                      <a16:colId xmlns:a16="http://schemas.microsoft.com/office/drawing/2014/main" val="20004"/>
                    </a:ext>
                  </a:extLst>
                </a:gridCol>
                <a:gridCol w="1544225">
                  <a:extLst>
                    <a:ext uri="{9D8B030D-6E8A-4147-A177-3AD203B41FA5}">
                      <a16:colId xmlns:a16="http://schemas.microsoft.com/office/drawing/2014/main" val="20005"/>
                    </a:ext>
                  </a:extLst>
                </a:gridCol>
              </a:tblGrid>
              <a:tr h="183700">
                <a:tc>
                  <a:txBody>
                    <a:bodyPr/>
                    <a:lstStyle/>
                    <a:p>
                      <a:pPr marL="0" lvl="0" indent="0" algn="ctr" rtl="0">
                        <a:lnSpc>
                          <a:spcPct val="115000"/>
                        </a:lnSpc>
                        <a:spcBef>
                          <a:spcPts val="0"/>
                        </a:spcBef>
                        <a:spcAft>
                          <a:spcPts val="0"/>
                        </a:spcAft>
                        <a:buNone/>
                      </a:pPr>
                      <a:r>
                        <a:rPr lang="en-GB" sz="1100" b="1">
                          <a:latin typeface="Times New Roman"/>
                          <a:ea typeface="Times New Roman"/>
                          <a:cs typeface="Times New Roman"/>
                          <a:sym typeface="Times New Roman"/>
                        </a:rPr>
                        <a:t>Paper (Author)</a:t>
                      </a:r>
                      <a:endParaRPr sz="1100" b="1">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b="1">
                          <a:latin typeface="Times New Roman"/>
                          <a:ea typeface="Times New Roman"/>
                          <a:cs typeface="Times New Roman"/>
                          <a:sym typeface="Times New Roman"/>
                        </a:rPr>
                        <a:t>Focus Area</a:t>
                      </a:r>
                      <a:endParaRPr sz="1100" b="1">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b="1">
                          <a:latin typeface="Times New Roman"/>
                          <a:ea typeface="Times New Roman"/>
                          <a:cs typeface="Times New Roman"/>
                          <a:sym typeface="Times New Roman"/>
                        </a:rPr>
                        <a:t>Methodology</a:t>
                      </a:r>
                      <a:endParaRPr sz="1100" b="1">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b="1">
                          <a:latin typeface="Times New Roman"/>
                          <a:ea typeface="Times New Roman"/>
                          <a:cs typeface="Times New Roman"/>
                          <a:sym typeface="Times New Roman"/>
                        </a:rPr>
                        <a:t>AI Tools Used</a:t>
                      </a:r>
                      <a:endParaRPr sz="1100" b="1">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b="1">
                          <a:latin typeface="Times New Roman"/>
                          <a:ea typeface="Times New Roman"/>
                          <a:cs typeface="Times New Roman"/>
                          <a:sym typeface="Times New Roman"/>
                        </a:rPr>
                        <a:t>Outcomes</a:t>
                      </a:r>
                      <a:endParaRPr sz="1100" b="1">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b="1">
                          <a:latin typeface="Times New Roman"/>
                          <a:ea typeface="Times New Roman"/>
                          <a:cs typeface="Times New Roman"/>
                          <a:sym typeface="Times New Roman"/>
                        </a:rPr>
                        <a:t>Limitations</a:t>
                      </a:r>
                      <a:endParaRPr sz="1100" b="1">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r h="517700">
                <a:tc>
                  <a:txBody>
                    <a:bodyPr/>
                    <a:lstStyle/>
                    <a:p>
                      <a:pPr marL="0" lvl="0" indent="0" algn="ctr" rtl="0">
                        <a:lnSpc>
                          <a:spcPct val="115000"/>
                        </a:lnSpc>
                        <a:spcBef>
                          <a:spcPts val="0"/>
                        </a:spcBef>
                        <a:spcAft>
                          <a:spcPts val="0"/>
                        </a:spcAft>
                        <a:buNone/>
                      </a:pPr>
                      <a:r>
                        <a:rPr lang="en-GB" sz="1100" dirty="0">
                          <a:latin typeface="Times New Roman"/>
                          <a:ea typeface="Times New Roman"/>
                          <a:cs typeface="Times New Roman"/>
                          <a:sym typeface="Times New Roman"/>
                        </a:rPr>
                        <a:t>Boobal et al.</a:t>
                      </a:r>
                    </a:p>
                    <a:p>
                      <a:pPr marL="0" lvl="0" indent="0" algn="ctr" rtl="0">
                        <a:lnSpc>
                          <a:spcPct val="115000"/>
                        </a:lnSpc>
                        <a:spcBef>
                          <a:spcPts val="0"/>
                        </a:spcBef>
                        <a:spcAft>
                          <a:spcPts val="0"/>
                        </a:spcAft>
                        <a:buNone/>
                      </a:pPr>
                      <a:r>
                        <a:rPr lang="en-GB" sz="1100" dirty="0">
                          <a:latin typeface="Times New Roman"/>
                          <a:ea typeface="Times New Roman"/>
                          <a:cs typeface="Times New Roman"/>
                          <a:sym typeface="Times New Roman"/>
                        </a:rPr>
                        <a:t>[2024]</a:t>
                      </a:r>
                      <a:endParaRPr sz="1100" dirty="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Real-time sign language and audio conversion for two-way communication</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Used CNNs and NLP for gesture and speech translation; MobileNet for gesture recognition; Google Speech API for audio-to-sign conversion</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MobileNet, CNN, NLP, Google Speech API</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Achieved 94.2% accuracy with real-time responsiveness, multilingual adaptability, and two-way ISL communication</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Gesture ambiguity, speech variability, and dataset limitations affect contextual understanding</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517700">
                <a:tc>
                  <a:txBody>
                    <a:bodyPr/>
                    <a:lstStyle/>
                    <a:p>
                      <a:pPr marL="0" lvl="0" indent="0" algn="ctr" rtl="0">
                        <a:lnSpc>
                          <a:spcPct val="115000"/>
                        </a:lnSpc>
                        <a:spcBef>
                          <a:spcPts val="0"/>
                        </a:spcBef>
                        <a:spcAft>
                          <a:spcPts val="0"/>
                        </a:spcAft>
                        <a:buNone/>
                      </a:pPr>
                      <a:r>
                        <a:rPr lang="en-GB" sz="1100" dirty="0">
                          <a:latin typeface="Times New Roman"/>
                          <a:ea typeface="Times New Roman"/>
                          <a:cs typeface="Times New Roman"/>
                          <a:sym typeface="Times New Roman"/>
                        </a:rPr>
                        <a:t>Bayrak et al.</a:t>
                      </a:r>
                    </a:p>
                    <a:p>
                      <a:pPr marL="0" lvl="0" indent="0" algn="ctr" rtl="0">
                        <a:lnSpc>
                          <a:spcPct val="115000"/>
                        </a:lnSpc>
                        <a:spcBef>
                          <a:spcPts val="0"/>
                        </a:spcBef>
                        <a:spcAft>
                          <a:spcPts val="0"/>
                        </a:spcAft>
                        <a:buNone/>
                      </a:pPr>
                      <a:r>
                        <a:rPr lang="en-GB" sz="1100" dirty="0">
                          <a:latin typeface="Times New Roman"/>
                          <a:ea typeface="Times New Roman"/>
                          <a:cs typeface="Times New Roman"/>
                          <a:sym typeface="Times New Roman"/>
                        </a:rPr>
                        <a:t>[2024]</a:t>
                      </a:r>
                      <a:endParaRPr sz="1100" dirty="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ASL recognition using complex-valued deep learning</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Applied CZMs for feature extraction and CVDNNs for classification</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CZMs, CVDNNs</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dirty="0">
                          <a:solidFill>
                            <a:schemeClr val="dk1"/>
                          </a:solidFill>
                          <a:latin typeface="Times New Roman"/>
                          <a:ea typeface="Times New Roman"/>
                          <a:cs typeface="Times New Roman"/>
                          <a:sym typeface="Times New Roman"/>
                        </a:rPr>
                        <a:t>Achieved 89.01% accuracy on MNIST and 98.67% on Massey dataset; improved precision and robustness</a:t>
                      </a:r>
                      <a:endParaRPr sz="1100" dirty="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Focused mainly on static gestures; lacks adaptability for dynamic signs</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517700">
                <a:tc>
                  <a:txBody>
                    <a:bodyPr/>
                    <a:lstStyle/>
                    <a:p>
                      <a:pPr marL="0" lvl="0" indent="0" algn="ctr" rtl="0">
                        <a:lnSpc>
                          <a:spcPct val="115000"/>
                        </a:lnSpc>
                        <a:spcBef>
                          <a:spcPts val="0"/>
                        </a:spcBef>
                        <a:spcAft>
                          <a:spcPts val="0"/>
                        </a:spcAft>
                        <a:buNone/>
                      </a:pPr>
                      <a:r>
                        <a:rPr lang="en-GB" sz="1100" dirty="0">
                          <a:latin typeface="Times New Roman"/>
                          <a:ea typeface="Times New Roman"/>
                          <a:cs typeface="Times New Roman"/>
                          <a:sym typeface="Times New Roman"/>
                        </a:rPr>
                        <a:t>Mukesh Kumar et al.</a:t>
                      </a:r>
                    </a:p>
                    <a:p>
                      <a:pPr marL="0" lvl="0" indent="0" algn="ctr" rtl="0">
                        <a:lnSpc>
                          <a:spcPct val="115000"/>
                        </a:lnSpc>
                        <a:spcBef>
                          <a:spcPts val="0"/>
                        </a:spcBef>
                        <a:spcAft>
                          <a:spcPts val="0"/>
                        </a:spcAft>
                        <a:buNone/>
                      </a:pPr>
                      <a:r>
                        <a:rPr lang="en-GB" sz="1100" dirty="0">
                          <a:latin typeface="Times New Roman"/>
                          <a:ea typeface="Times New Roman"/>
                          <a:cs typeface="Times New Roman"/>
                          <a:sym typeface="Times New Roman"/>
                        </a:rPr>
                        <a:t>[2024]</a:t>
                      </a:r>
                      <a:endParaRPr sz="1100" dirty="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Gesture-to-speech translation system for ASL</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Used LSTM for temporal analysis; MediaPipe for landmark detection; Pyttsx3 for speech synthesis</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LSTM, MediaPipe Holistic, Pyttsx3</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Achieved 91.63% accuracy; enabled real-time gesture recognition and speech output</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Difficulty recognizing facial expressions and multi-modal signs; needs larger datasets</a:t>
                      </a:r>
                      <a:endParaRPr sz="1100">
                        <a:latin typeface="Times New Roman"/>
                        <a:ea typeface="Times New Roman"/>
                        <a:cs typeface="Times New Roman"/>
                        <a:sym typeface="Times New Roman"/>
                      </a:endParaRPr>
                    </a:p>
                  </a:txBody>
                  <a:tcPr marL="47625" marR="47625" marT="9525" marB="95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427475">
                <a:tc>
                  <a:txBody>
                    <a:bodyPr/>
                    <a:lstStyle/>
                    <a:p>
                      <a:pPr marL="0" lvl="0" indent="0" algn="ctr" rtl="0">
                        <a:lnSpc>
                          <a:spcPct val="115000"/>
                        </a:lnSpc>
                        <a:spcBef>
                          <a:spcPts val="0"/>
                        </a:spcBef>
                        <a:spcAft>
                          <a:spcPts val="0"/>
                        </a:spcAft>
                        <a:buNone/>
                      </a:pPr>
                      <a:r>
                        <a:rPr lang="en-GB" sz="1100" dirty="0" err="1">
                          <a:latin typeface="Times New Roman"/>
                          <a:ea typeface="Times New Roman"/>
                          <a:cs typeface="Times New Roman"/>
                          <a:sym typeface="Times New Roman"/>
                        </a:rPr>
                        <a:t>Venkadesh</a:t>
                      </a:r>
                      <a:r>
                        <a:rPr lang="en-GB" sz="1100" dirty="0">
                          <a:latin typeface="Times New Roman"/>
                          <a:ea typeface="Times New Roman"/>
                          <a:cs typeface="Times New Roman"/>
                          <a:sym typeface="Times New Roman"/>
                        </a:rPr>
                        <a:t> et al.</a:t>
                      </a:r>
                    </a:p>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[2024]</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Bidirectional ISL communication system (SignChatAI)</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Combined CNN and LSTM for visual and sequential gesture translation</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latin typeface="Times New Roman"/>
                          <a:ea typeface="Times New Roman"/>
                          <a:cs typeface="Times New Roman"/>
                          <a:sym typeface="Times New Roman"/>
                        </a:rPr>
                        <a:t>CNN, LSTM, Generative AI</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Achieved 90–100% accuracy; promoted inclusivity, scalability, and gesture-based communication</a:t>
                      </a:r>
                      <a:endParaRPr sz="110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100" dirty="0">
                          <a:solidFill>
                            <a:schemeClr val="dk1"/>
                          </a:solidFill>
                          <a:latin typeface="Times New Roman"/>
                          <a:ea typeface="Times New Roman"/>
                          <a:cs typeface="Times New Roman"/>
                          <a:sym typeface="Times New Roman"/>
                        </a:rPr>
                        <a:t>Dependent on predefined datasets; limited gesture vocabulary and lacks continuous learning</a:t>
                      </a:r>
                      <a:endParaRPr sz="1100" dirty="0">
                        <a:latin typeface="Times New Roman"/>
                        <a:ea typeface="Times New Roman"/>
                        <a:cs typeface="Times New Roman"/>
                        <a:sym typeface="Times New Roman"/>
                      </a:endParaRPr>
                    </a:p>
                  </a:txBody>
                  <a:tcPr marL="47625" marR="47625" marT="9525" marB="95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1" name="Google Shape;91;p19"/>
          <p:cNvSpPr txBox="1"/>
          <p:nvPr/>
        </p:nvSpPr>
        <p:spPr>
          <a:xfrm>
            <a:off x="2547416" y="0"/>
            <a:ext cx="4658056" cy="6463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GB" sz="3000" u="sng" dirty="0">
                <a:solidFill>
                  <a:schemeClr val="dk1"/>
                </a:solidFill>
                <a:latin typeface="Times New Roman"/>
                <a:ea typeface="Times New Roman"/>
                <a:cs typeface="Times New Roman"/>
                <a:sym typeface="Times New Roman"/>
              </a:rPr>
              <a:t>LITERATURE SURVEY</a:t>
            </a:r>
            <a:endParaRPr sz="3000" dirty="0">
              <a:solidFill>
                <a:schemeClr val="dk1"/>
              </a:solidFill>
              <a:latin typeface="Times New Roman"/>
              <a:ea typeface="Times New Roman"/>
              <a:cs typeface="Times New Roman"/>
              <a:sym typeface="Times New Roman"/>
            </a:endParaRPr>
          </a:p>
        </p:txBody>
      </p:sp>
      <p:sp>
        <p:nvSpPr>
          <p:cNvPr id="92" name="Google Shape;92;p19"/>
          <p:cNvSpPr txBox="1"/>
          <p:nvPr/>
        </p:nvSpPr>
        <p:spPr>
          <a:xfrm>
            <a:off x="4035288" y="4687850"/>
            <a:ext cx="1073400" cy="332400"/>
          </a:xfrm>
          <a:prstGeom prst="rect">
            <a:avLst/>
          </a:prstGeom>
          <a:noFill/>
          <a:ln>
            <a:noFill/>
          </a:ln>
        </p:spPr>
        <p:txBody>
          <a:bodyPr spcFirstLastPara="1" wrap="square" lIns="91425" tIns="91425" rIns="91425" bIns="91425" anchor="ctr" anchorCtr="0">
            <a:spAutoFit/>
          </a:bodyPr>
          <a:lstStyle/>
          <a:p>
            <a:pPr marL="0" lvl="0" indent="0" algn="ctr" rtl="0">
              <a:lnSpc>
                <a:spcPct val="80000"/>
              </a:lnSpc>
              <a:spcBef>
                <a:spcPts val="0"/>
              </a:spcBef>
              <a:spcAft>
                <a:spcPts val="0"/>
              </a:spcAft>
              <a:buSzPts val="275"/>
              <a:buNone/>
            </a:pPr>
            <a:r>
              <a:rPr lang="en-GB" sz="1200" b="1">
                <a:solidFill>
                  <a:schemeClr val="dk2"/>
                </a:solidFill>
                <a:latin typeface="Times New Roman"/>
                <a:ea typeface="Times New Roman"/>
                <a:cs typeface="Times New Roman"/>
                <a:sym typeface="Times New Roman"/>
              </a:rPr>
              <a:t>Dept of CSE</a:t>
            </a:r>
            <a:endParaRPr sz="1200" b="1">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p:nvPr/>
        </p:nvSpPr>
        <p:spPr>
          <a:xfrm>
            <a:off x="1305477" y="-309983"/>
            <a:ext cx="6533046" cy="997679"/>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800"/>
              </a:spcBef>
              <a:spcAft>
                <a:spcPts val="400"/>
              </a:spcAft>
              <a:buNone/>
            </a:pPr>
            <a:r>
              <a:rPr lang="en-GB" sz="3000" u="sng" dirty="0">
                <a:solidFill>
                  <a:schemeClr val="dk1"/>
                </a:solidFill>
                <a:latin typeface="Times New Roman"/>
                <a:ea typeface="Times New Roman"/>
                <a:cs typeface="Times New Roman"/>
                <a:sym typeface="Times New Roman"/>
              </a:rPr>
              <a:t>SYSTEM ANALYSIS AND DESIGN</a:t>
            </a:r>
            <a:endParaRPr sz="3000" u="sng" dirty="0">
              <a:solidFill>
                <a:schemeClr val="dk1"/>
              </a:solidFill>
              <a:latin typeface="Times New Roman"/>
              <a:ea typeface="Times New Roman"/>
              <a:cs typeface="Times New Roman"/>
              <a:sym typeface="Times New Roman"/>
            </a:endParaRPr>
          </a:p>
        </p:txBody>
      </p:sp>
      <p:sp>
        <p:nvSpPr>
          <p:cNvPr id="98" name="Google Shape;98;p20"/>
          <p:cNvSpPr txBox="1"/>
          <p:nvPr/>
        </p:nvSpPr>
        <p:spPr>
          <a:xfrm>
            <a:off x="603504" y="333460"/>
            <a:ext cx="7936992" cy="4431952"/>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GB" sz="2000" b="1" dirty="0">
                <a:solidFill>
                  <a:schemeClr val="dk1"/>
                </a:solidFill>
                <a:latin typeface="Times New Roman"/>
                <a:ea typeface="Times New Roman"/>
                <a:cs typeface="Times New Roman"/>
                <a:sym typeface="Times New Roman"/>
              </a:rPr>
              <a:t>System Analysis</a:t>
            </a:r>
          </a:p>
          <a:p>
            <a:pPr marL="285750" lvl="0" indent="-28575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Captures hand gestures through webcam.</a:t>
            </a:r>
          </a:p>
          <a:p>
            <a:pPr marL="285750" lvl="0" indent="-28575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Key modules:</a:t>
            </a:r>
          </a:p>
          <a:p>
            <a:pPr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	Frame Capture</a:t>
            </a:r>
          </a:p>
          <a:p>
            <a:pPr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	Preprocessing (crop, resize, normalize)</a:t>
            </a:r>
          </a:p>
          <a:p>
            <a:pPr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	CNN-based Classification</a:t>
            </a:r>
          </a:p>
          <a:p>
            <a:pPr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	Kannada NLP Text Generator</a:t>
            </a:r>
          </a:p>
          <a:p>
            <a:pPr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	Speech Output (Web Speech API / </a:t>
            </a:r>
            <a:r>
              <a:rPr lang="en-US" altLang="en-US" sz="2000" dirty="0" err="1">
                <a:solidFill>
                  <a:schemeClr val="tx1"/>
                </a:solidFill>
                <a:latin typeface="Times New Roman" panose="02020603050405020304" pitchFamily="18" charset="0"/>
                <a:cs typeface="Times New Roman" panose="02020603050405020304" pitchFamily="18" charset="0"/>
              </a:rPr>
              <a:t>gTTS</a:t>
            </a:r>
            <a:r>
              <a:rPr lang="en-US" altLang="en-US" sz="2000" dirty="0">
                <a:solidFill>
                  <a:schemeClr val="tx1"/>
                </a:solidFill>
                <a:latin typeface="Times New Roman" panose="02020603050405020304" pitchFamily="18" charset="0"/>
                <a:cs typeface="Times New Roman" panose="02020603050405020304" pitchFamily="18" charset="0"/>
              </a:rPr>
              <a:t>)</a:t>
            </a:r>
            <a:endPar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90000"/>
              </a:lnSpc>
              <a:spcBef>
                <a:spcPts val="1200"/>
              </a:spcBef>
              <a:spcAft>
                <a:spcPts val="0"/>
              </a:spcAft>
              <a:buNone/>
            </a:pPr>
            <a:r>
              <a:rPr lang="en-GB"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System Design</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CNN model trained on </a:t>
            </a:r>
            <a:r>
              <a:rPr lang="en-US" altLang="en-US" sz="2000" b="1" dirty="0">
                <a:solidFill>
                  <a:schemeClr val="tx1"/>
                </a:solidFill>
                <a:latin typeface="Times New Roman" panose="02020603050405020304" pitchFamily="18" charset="0"/>
                <a:cs typeface="Times New Roman" panose="02020603050405020304" pitchFamily="18" charset="0"/>
              </a:rPr>
              <a:t>34 Kannada </a:t>
            </a:r>
            <a:r>
              <a:rPr lang="en-US" altLang="en-US" sz="2000" b="1" dirty="0" err="1">
                <a:solidFill>
                  <a:schemeClr val="tx1"/>
                </a:solidFill>
                <a:latin typeface="Times New Roman" panose="02020603050405020304" pitchFamily="18" charset="0"/>
                <a:cs typeface="Times New Roman" panose="02020603050405020304" pitchFamily="18" charset="0"/>
              </a:rPr>
              <a:t>Vyanjanagalu</a:t>
            </a:r>
            <a:r>
              <a:rPr lang="en-US" altLang="en-US" sz="2000" dirty="0">
                <a:solidFill>
                  <a:schemeClr val="tx1"/>
                </a:solidFill>
                <a:latin typeface="Times New Roman" panose="02020603050405020304" pitchFamily="18" charset="0"/>
                <a:cs typeface="Times New Roman" panose="02020603050405020304" pitchFamily="18" charset="0"/>
              </a:rPr>
              <a:t> classes.</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Vowel attachment, </a:t>
            </a:r>
            <a:r>
              <a:rPr lang="en-US" altLang="en-US" sz="2000" dirty="0" err="1">
                <a:solidFill>
                  <a:schemeClr val="tx1"/>
                </a:solidFill>
                <a:latin typeface="Times New Roman" panose="02020603050405020304" pitchFamily="18" charset="0"/>
                <a:cs typeface="Times New Roman" panose="02020603050405020304" pitchFamily="18" charset="0"/>
              </a:rPr>
              <a:t>vattakshara</a:t>
            </a:r>
            <a:r>
              <a:rPr lang="en-US" altLang="en-US" sz="2000" dirty="0">
                <a:solidFill>
                  <a:schemeClr val="tx1"/>
                </a:solidFill>
                <a:latin typeface="Times New Roman" panose="02020603050405020304" pitchFamily="18" charset="0"/>
                <a:cs typeface="Times New Roman" panose="02020603050405020304" pitchFamily="18" charset="0"/>
              </a:rPr>
              <a:t> formation, contextual spacing</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Real-time inference via </a:t>
            </a:r>
            <a:r>
              <a:rPr lang="en-US" altLang="en-US" sz="2000" dirty="0" err="1">
                <a:solidFill>
                  <a:schemeClr val="tx1"/>
                </a:solidFill>
                <a:latin typeface="Times New Roman" panose="02020603050405020304" pitchFamily="18" charset="0"/>
                <a:cs typeface="Times New Roman" panose="02020603050405020304" pitchFamily="18" charset="0"/>
              </a:rPr>
              <a:t>FastAPI</a:t>
            </a:r>
            <a:r>
              <a:rPr lang="en-US" altLang="en-US" sz="2000" dirty="0">
                <a:solidFill>
                  <a:schemeClr val="tx1"/>
                </a:solidFill>
                <a:latin typeface="Times New Roman" panose="02020603050405020304" pitchFamily="18" charset="0"/>
                <a:cs typeface="Times New Roman" panose="02020603050405020304" pitchFamily="18" charset="0"/>
              </a:rPr>
              <a:t> backend + React.js frontend using </a:t>
            </a:r>
            <a:r>
              <a:rPr lang="en-US" altLang="en-US" sz="2000" dirty="0" err="1">
                <a:solidFill>
                  <a:schemeClr val="tx1"/>
                </a:solidFill>
                <a:latin typeface="Times New Roman" panose="02020603050405020304" pitchFamily="18" charset="0"/>
                <a:cs typeface="Times New Roman" panose="02020603050405020304" pitchFamily="18" charset="0"/>
              </a:rPr>
              <a:t>WebSockets</a:t>
            </a:r>
            <a:r>
              <a:rPr lang="en-US" altLang="en-US" sz="2000"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p:nvPr/>
        </p:nvSpPr>
        <p:spPr>
          <a:xfrm>
            <a:off x="1057102" y="-75098"/>
            <a:ext cx="7201245"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000" u="sng" dirty="0">
                <a:solidFill>
                  <a:schemeClr val="dk1"/>
                </a:solidFill>
                <a:latin typeface="Times New Roman"/>
                <a:ea typeface="Times New Roman"/>
                <a:cs typeface="Times New Roman"/>
                <a:sym typeface="Times New Roman"/>
              </a:rPr>
              <a:t>IMPLEMENTATION AND TESTING</a:t>
            </a:r>
            <a:endParaRPr sz="3000" u="sng" dirty="0">
              <a:solidFill>
                <a:schemeClr val="dk1"/>
              </a:solidFill>
              <a:latin typeface="Times New Roman"/>
              <a:ea typeface="Times New Roman"/>
              <a:cs typeface="Times New Roman"/>
              <a:sym typeface="Times New Roman"/>
            </a:endParaRPr>
          </a:p>
        </p:txBody>
      </p:sp>
      <p:sp>
        <p:nvSpPr>
          <p:cNvPr id="105" name="Google Shape;105;p21"/>
          <p:cNvSpPr txBox="1"/>
          <p:nvPr/>
        </p:nvSpPr>
        <p:spPr>
          <a:xfrm>
            <a:off x="481584" y="248052"/>
            <a:ext cx="8180832" cy="4647396"/>
          </a:xfrm>
          <a:prstGeom prst="rect">
            <a:avLst/>
          </a:prstGeom>
          <a:noFill/>
          <a:ln>
            <a:noFill/>
          </a:ln>
        </p:spPr>
        <p:txBody>
          <a:bodyPr spcFirstLastPara="1" wrap="square" lIns="91425" tIns="91425" rIns="91425" bIns="91425" anchor="t" anchorCtr="0">
            <a:spAutoFit/>
          </a:bodyPr>
          <a:lstStyle/>
          <a:p>
            <a:pPr marL="463550" lvl="0" indent="-342900" algn="just" rtl="0">
              <a:lnSpc>
                <a:spcPct val="100000"/>
              </a:lnSpc>
              <a:spcBef>
                <a:spcPts val="120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Implemented using Python, TensorFlow/</a:t>
            </a:r>
            <a:r>
              <a:rPr lang="en-GB" sz="2000" dirty="0" err="1">
                <a:solidFill>
                  <a:schemeClr val="dk1"/>
                </a:solidFill>
                <a:latin typeface="Times New Roman" panose="02020603050405020304" pitchFamily="18" charset="0"/>
                <a:ea typeface="Times New Roman"/>
                <a:cs typeface="Times New Roman" panose="02020603050405020304" pitchFamily="18" charset="0"/>
                <a:sym typeface="Times New Roman"/>
              </a:rPr>
              <a:t>Keras</a:t>
            </a: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 OpenCV, </a:t>
            </a:r>
            <a:r>
              <a:rPr lang="en-GB" sz="2000" dirty="0" err="1">
                <a:solidFill>
                  <a:schemeClr val="dk1"/>
                </a:solidFill>
                <a:latin typeface="Times New Roman" panose="02020603050405020304" pitchFamily="18" charset="0"/>
                <a:ea typeface="Times New Roman"/>
                <a:cs typeface="Times New Roman" panose="02020603050405020304" pitchFamily="18" charset="0"/>
                <a:sym typeface="Times New Roman"/>
              </a:rPr>
              <a:t>FastAPI</a:t>
            </a: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 React.js.</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63550" lvl="0" indent="-342900" algn="just" rtl="0">
              <a:lnSpc>
                <a:spcPct val="100000"/>
              </a:lnSpc>
              <a:spcBef>
                <a:spcPts val="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Dataset </a:t>
            </a:r>
            <a:r>
              <a:rPr lang="en-GB" sz="2000" dirty="0" err="1">
                <a:solidFill>
                  <a:schemeClr val="dk1"/>
                </a:solidFill>
                <a:latin typeface="Times New Roman" panose="02020603050405020304" pitchFamily="18" charset="0"/>
                <a:ea typeface="Times New Roman"/>
                <a:cs typeface="Times New Roman" panose="02020603050405020304" pitchFamily="18" charset="0"/>
                <a:sym typeface="Times New Roman"/>
              </a:rPr>
              <a:t>preprocessed</a:t>
            </a: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 with frame resizing, normalization, and augmentation to enhance robustness.</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63550" lvl="0" indent="-342900" algn="just" rtl="0">
              <a:lnSpc>
                <a:spcPct val="100000"/>
              </a:lnSpc>
              <a:spcBef>
                <a:spcPts val="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CNN Model trained with Adam</a:t>
            </a:r>
            <a:r>
              <a:rPr lang="en-GB"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optimizer and categorical cross-entropy loss.</a:t>
            </a:r>
          </a:p>
          <a:p>
            <a:pPr marL="463550" indent="-342900" algn="just">
              <a:buClr>
                <a:schemeClr val="dk1"/>
              </a:buClr>
              <a:buSzPts val="17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WebSocket-based real-time frame-streaming for prediction.</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63550" lvl="0" indent="-342900" algn="just" rtl="0">
              <a:lnSpc>
                <a:spcPct val="100000"/>
              </a:lnSpc>
              <a:spcBef>
                <a:spcPts val="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Performance metrics: Accuracy, Precision, Recall, F1-score, and Latency.</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63550" lvl="0" indent="-342900" algn="just" rtl="0">
              <a:lnSpc>
                <a:spcPct val="100000"/>
              </a:lnSpc>
              <a:spcBef>
                <a:spcPts val="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Achieved 97.6% accuracy with low latency (~180 </a:t>
            </a:r>
            <a:r>
              <a:rPr lang="en-GB" sz="2000" dirty="0" err="1">
                <a:solidFill>
                  <a:schemeClr val="dk1"/>
                </a:solidFill>
                <a:latin typeface="Times New Roman" panose="02020603050405020304" pitchFamily="18" charset="0"/>
                <a:ea typeface="Times New Roman"/>
                <a:cs typeface="Times New Roman" panose="02020603050405020304" pitchFamily="18" charset="0"/>
                <a:sym typeface="Times New Roman"/>
              </a:rPr>
              <a:t>ms</a:t>
            </a: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63550" lvl="0" indent="-342900" algn="just" rtl="0">
              <a:lnSpc>
                <a:spcPct val="100000"/>
              </a:lnSpc>
              <a:spcBef>
                <a:spcPts val="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Testing conducted on both dataset samples and live webcam inputs for validation.</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63550" lvl="0" indent="-342900" algn="just" rtl="0">
              <a:lnSpc>
                <a:spcPct val="100000"/>
              </a:lnSpc>
              <a:spcBef>
                <a:spcPts val="0"/>
              </a:spcBef>
              <a:spcAft>
                <a:spcPts val="0"/>
              </a:spcAft>
              <a:buClr>
                <a:schemeClr val="dk1"/>
              </a:buClr>
              <a:buSzPts val="1700"/>
              <a:buFont typeface="Arial" panose="020B0604020202020204" pitchFamily="34" charset="0"/>
              <a:buChar char="•"/>
            </a:pPr>
            <a:r>
              <a:rPr lang="en-GB" sz="2000" dirty="0">
                <a:solidFill>
                  <a:schemeClr val="dk1"/>
                </a:solidFill>
                <a:latin typeface="Times New Roman" panose="02020603050405020304" pitchFamily="18" charset="0"/>
                <a:ea typeface="Times New Roman"/>
                <a:cs typeface="Times New Roman" panose="02020603050405020304" pitchFamily="18" charset="0"/>
                <a:sym typeface="Times New Roman"/>
              </a:rPr>
              <a:t>User-level testing performed to evaluate real-time accuracy, speech clarity, and system responsiveness under different lighting and background conditions.</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p:nvPr/>
        </p:nvSpPr>
        <p:spPr>
          <a:xfrm>
            <a:off x="1729626" y="-109728"/>
            <a:ext cx="5513298"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000" u="sng" dirty="0">
                <a:solidFill>
                  <a:schemeClr val="dk1"/>
                </a:solidFill>
                <a:latin typeface="Times New Roman"/>
                <a:ea typeface="Times New Roman"/>
                <a:cs typeface="Times New Roman"/>
                <a:sym typeface="Times New Roman"/>
              </a:rPr>
              <a:t>RESULTS AND DISCUSSION</a:t>
            </a:r>
            <a:endParaRPr sz="3000" u="sng" dirty="0">
              <a:solidFill>
                <a:schemeClr val="dk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1F0B80D3-351F-7844-6E59-49A15C495FB1}"/>
              </a:ext>
            </a:extLst>
          </p:cNvPr>
          <p:cNvSpPr>
            <a:spLocks noChangeArrowheads="1"/>
          </p:cNvSpPr>
          <p:nvPr/>
        </p:nvSpPr>
        <p:spPr bwMode="auto">
          <a:xfrm>
            <a:off x="414147" y="371147"/>
            <a:ext cx="814425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97.6% training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demonstrating strong gesture classification capability.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evaluation scores: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 – 0.98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 – 0.97</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F1-score – 0.96</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reliable predictions.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performance achieved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~150–180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latency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5–6 FPS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enabling smooth translation.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 module improved Kannada text formation through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vowel attachment,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vattakshara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rules, and duplicate suppression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converted recognized gestures into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meaningful Kannada text and natural speech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Confusion matrix showed minor misclassifications, mainly for gestures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similar hand shapes or lighting variations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proved to be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 responsive, and practical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KSL communication.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p:nvPr/>
        </p:nvSpPr>
        <p:spPr>
          <a:xfrm>
            <a:off x="712837" y="0"/>
            <a:ext cx="7419675"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000" u="sng" dirty="0">
                <a:solidFill>
                  <a:schemeClr val="dk1"/>
                </a:solidFill>
                <a:latin typeface="Times New Roman"/>
                <a:ea typeface="Times New Roman"/>
                <a:cs typeface="Times New Roman"/>
                <a:sym typeface="Times New Roman"/>
              </a:rPr>
              <a:t>CONCLUSION AND FUTURE SCOPE</a:t>
            </a:r>
            <a:endParaRPr sz="3000" dirty="0">
              <a:solidFill>
                <a:schemeClr val="dk1"/>
              </a:solidFill>
              <a:latin typeface="Calibri"/>
              <a:ea typeface="Calibri"/>
              <a:cs typeface="Calibri"/>
              <a:sym typeface="Calibri"/>
            </a:endParaRPr>
          </a:p>
        </p:txBody>
      </p:sp>
      <p:sp>
        <p:nvSpPr>
          <p:cNvPr id="117" name="Google Shape;117;p23"/>
          <p:cNvSpPr txBox="1"/>
          <p:nvPr/>
        </p:nvSpPr>
        <p:spPr>
          <a:xfrm>
            <a:off x="512063" y="569400"/>
            <a:ext cx="8108211" cy="4185731"/>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0"/>
              </a:spcAft>
              <a:buNone/>
            </a:pPr>
            <a:r>
              <a:rPr lang="en-GB"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Conclusion</a:t>
            </a:r>
          </a:p>
          <a:p>
            <a:pPr marL="285750" lvl="0" indent="-28575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A complete real-time Kannada Sign Language recognition system was developed using CNN + NLP + speech synthesis.</a:t>
            </a:r>
          </a:p>
          <a:p>
            <a:pPr marL="285750" lvl="0" indent="-28575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Converts </a:t>
            </a:r>
            <a:r>
              <a:rPr lang="en-US" altLang="en-US" sz="2000" dirty="0" err="1">
                <a:solidFill>
                  <a:schemeClr val="tx1"/>
                </a:solidFill>
                <a:latin typeface="Times New Roman" panose="02020603050405020304" pitchFamily="18" charset="0"/>
                <a:cs typeface="Times New Roman" panose="02020603050405020304" pitchFamily="18" charset="0"/>
              </a:rPr>
              <a:t>Vyanjanagalu</a:t>
            </a:r>
            <a:r>
              <a:rPr lang="en-US" altLang="en-US" sz="2000" dirty="0">
                <a:solidFill>
                  <a:schemeClr val="tx1"/>
                </a:solidFill>
                <a:latin typeface="Times New Roman" panose="02020603050405020304" pitchFamily="18" charset="0"/>
                <a:cs typeface="Times New Roman" panose="02020603050405020304" pitchFamily="18" charset="0"/>
              </a:rPr>
              <a:t> gestures to readable Kannada text and natural speech.</a:t>
            </a:r>
          </a:p>
          <a:p>
            <a:pPr marL="285750" lvl="0" indent="-28575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Achieves high accuracy and low latency suitable for practical use.</a:t>
            </a:r>
            <a:endParaRPr lang="en-GB" sz="1500" b="1" dirty="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GB"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Future Scope</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Extend model to vowels, compound characters &amp; continuous sign sequences.</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Integrate emotion/facial expression recognition.</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Deploy lightweight mobile/edge versions.</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Build multilingual support for other Indian sign languages.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p:nvPr/>
        </p:nvSpPr>
        <p:spPr>
          <a:xfrm>
            <a:off x="3072000" y="0"/>
            <a:ext cx="30000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000" u="sng" dirty="0">
                <a:solidFill>
                  <a:schemeClr val="dk1"/>
                </a:solidFill>
                <a:latin typeface="Times New Roman"/>
                <a:ea typeface="Times New Roman"/>
                <a:cs typeface="Times New Roman"/>
                <a:sym typeface="Times New Roman"/>
              </a:rPr>
              <a:t>REFERENCES</a:t>
            </a:r>
            <a:endParaRPr sz="3000" dirty="0">
              <a:solidFill>
                <a:schemeClr val="dk1"/>
              </a:solidFill>
              <a:latin typeface="Times New Roman"/>
              <a:ea typeface="Times New Roman"/>
              <a:cs typeface="Times New Roman"/>
              <a:sym typeface="Times New Roman"/>
            </a:endParaRPr>
          </a:p>
        </p:txBody>
      </p:sp>
      <p:sp>
        <p:nvSpPr>
          <p:cNvPr id="123" name="Google Shape;123;p24"/>
          <p:cNvSpPr txBox="1"/>
          <p:nvPr/>
        </p:nvSpPr>
        <p:spPr>
          <a:xfrm>
            <a:off x="224100" y="432718"/>
            <a:ext cx="8695800" cy="4093398"/>
          </a:xfrm>
          <a:prstGeom prst="rect">
            <a:avLst/>
          </a:prstGeom>
          <a:noFill/>
          <a:ln>
            <a:noFill/>
          </a:ln>
        </p:spPr>
        <p:txBody>
          <a:bodyPr spcFirstLastPara="1" wrap="square" lIns="91425" tIns="91425" rIns="91425" bIns="91425" anchor="t" anchorCtr="0">
            <a:spAutoFit/>
          </a:bodyPr>
          <a:lstStyle/>
          <a:p>
            <a:pPr marL="152400" lvl="0" indent="-457200" algn="l" rtl="0">
              <a:spcBef>
                <a:spcPts val="1000"/>
              </a:spcBef>
              <a:spcAft>
                <a:spcPts val="0"/>
              </a:spcAft>
              <a:buClr>
                <a:schemeClr val="dk1"/>
              </a:buClr>
              <a:buSzPts val="1200"/>
            </a:pPr>
            <a:r>
              <a:rPr lang="en-GB" sz="1200" dirty="0">
                <a:solidFill>
                  <a:schemeClr val="dk1"/>
                </a:solidFill>
                <a:latin typeface="Times New Roman"/>
                <a:ea typeface="Times New Roman"/>
                <a:cs typeface="Times New Roman"/>
                <a:sym typeface="Times New Roman"/>
              </a:rPr>
              <a:t>[1]. A. Boobal, J. Loyola Jasmine, C. C. K. Reddy, C. A. Reddy, and C. B. V. S. Rohith, </a:t>
            </a:r>
            <a:r>
              <a:rPr lang="en-GB" sz="1200" i="1" dirty="0">
                <a:solidFill>
                  <a:schemeClr val="dk1"/>
                </a:solidFill>
                <a:latin typeface="Times New Roman"/>
                <a:ea typeface="Times New Roman"/>
                <a:cs typeface="Times New Roman"/>
                <a:sym typeface="Times New Roman"/>
              </a:rPr>
              <a:t>“Real-Time Sign Language and Audio Conversion Using AI,”</a:t>
            </a:r>
            <a:r>
              <a:rPr lang="en-GB" sz="1200" dirty="0">
                <a:solidFill>
                  <a:schemeClr val="dk1"/>
                </a:solidFill>
                <a:latin typeface="Times New Roman"/>
                <a:ea typeface="Times New Roman"/>
                <a:cs typeface="Times New Roman"/>
                <a:sym typeface="Times New Roman"/>
              </a:rPr>
              <a:t> 2024 International Conference on Communication, Control, and Intelligent Systems (CCIS), May 14, 2024,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10.1109/CCIS63231.2024.10932061.</a:t>
            </a:r>
            <a:endParaRPr sz="1200" dirty="0">
              <a:solidFill>
                <a:schemeClr val="dk1"/>
              </a:solidFill>
              <a:latin typeface="Times New Roman"/>
              <a:ea typeface="Times New Roman"/>
              <a:cs typeface="Times New Roman"/>
              <a:sym typeface="Times New Roman"/>
            </a:endParaRPr>
          </a:p>
          <a:p>
            <a:pPr marL="152400" lvl="0" indent="-457200" algn="l" rtl="0">
              <a:spcBef>
                <a:spcPts val="1000"/>
              </a:spcBef>
              <a:spcAft>
                <a:spcPts val="0"/>
              </a:spcAft>
              <a:buClr>
                <a:schemeClr val="dk1"/>
              </a:buClr>
              <a:buSzPts val="1200"/>
            </a:pPr>
            <a:r>
              <a:rPr lang="en-GB" sz="1200" dirty="0">
                <a:solidFill>
                  <a:schemeClr val="dk1"/>
                </a:solidFill>
                <a:latin typeface="Times New Roman"/>
                <a:ea typeface="Times New Roman"/>
                <a:cs typeface="Times New Roman"/>
                <a:sym typeface="Times New Roman"/>
              </a:rPr>
              <a:t>[2]. S. Bayrak, V. Nabiyev, and C. </a:t>
            </a:r>
            <a:r>
              <a:rPr lang="en-GB" sz="1200" dirty="0" err="1">
                <a:solidFill>
                  <a:schemeClr val="dk1"/>
                </a:solidFill>
                <a:latin typeface="Times New Roman"/>
                <a:ea typeface="Times New Roman"/>
                <a:cs typeface="Times New Roman"/>
                <a:sym typeface="Times New Roman"/>
              </a:rPr>
              <a:t>Atalar</a:t>
            </a:r>
            <a:r>
              <a:rPr lang="en-GB" sz="1200" dirty="0">
                <a:solidFill>
                  <a:schemeClr val="dk1"/>
                </a:solidFill>
                <a:latin typeface="Times New Roman"/>
                <a:ea typeface="Times New Roman"/>
                <a:cs typeface="Times New Roman"/>
                <a:sym typeface="Times New Roman"/>
              </a:rPr>
              <a:t>, </a:t>
            </a:r>
            <a:r>
              <a:rPr lang="en-GB" sz="1200" i="1" dirty="0">
                <a:solidFill>
                  <a:schemeClr val="dk1"/>
                </a:solidFill>
                <a:latin typeface="Times New Roman"/>
                <a:ea typeface="Times New Roman"/>
                <a:cs typeface="Times New Roman"/>
                <a:sym typeface="Times New Roman"/>
              </a:rPr>
              <a:t>“American Sign Language Recognition Model Using Complex Zernike Moments and Complex-Valued Deep Neural Networks,”</a:t>
            </a:r>
            <a:r>
              <a:rPr lang="en-GB" sz="1200" dirty="0">
                <a:solidFill>
                  <a:schemeClr val="dk1"/>
                </a:solidFill>
                <a:latin typeface="Times New Roman"/>
                <a:ea typeface="Times New Roman"/>
                <a:cs typeface="Times New Roman"/>
                <a:sym typeface="Times New Roman"/>
              </a:rPr>
              <a:t> IEEE Access, vol. 12, pp. 193001–193006, Sep. 16, 2024,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10.1109/ACCESS.2024.3461572.</a:t>
            </a:r>
            <a:endParaRPr sz="1200" dirty="0">
              <a:solidFill>
                <a:schemeClr val="dk1"/>
              </a:solidFill>
              <a:latin typeface="Times New Roman"/>
              <a:ea typeface="Times New Roman"/>
              <a:cs typeface="Times New Roman"/>
              <a:sym typeface="Times New Roman"/>
            </a:endParaRPr>
          </a:p>
          <a:p>
            <a:pPr marL="152400" lvl="0" indent="-457200" algn="l" rtl="0">
              <a:spcBef>
                <a:spcPts val="1000"/>
              </a:spcBef>
              <a:spcAft>
                <a:spcPts val="0"/>
              </a:spcAft>
              <a:buClr>
                <a:schemeClr val="dk1"/>
              </a:buClr>
              <a:buSzPts val="1200"/>
            </a:pPr>
            <a:r>
              <a:rPr lang="en-GB" sz="1200" dirty="0">
                <a:solidFill>
                  <a:schemeClr val="dk1"/>
                </a:solidFill>
                <a:latin typeface="Times New Roman"/>
                <a:ea typeface="Times New Roman"/>
                <a:cs typeface="Times New Roman"/>
                <a:sym typeface="Times New Roman"/>
              </a:rPr>
              <a:t>[3]. M. Kumar, C. Bhatt, S. Manori, R. Khati, T. Singh, and T. N. L., </a:t>
            </a:r>
            <a:r>
              <a:rPr lang="en-GB" sz="1200" i="1" dirty="0">
                <a:solidFill>
                  <a:schemeClr val="dk1"/>
                </a:solidFill>
                <a:latin typeface="Times New Roman"/>
                <a:ea typeface="Times New Roman"/>
                <a:cs typeface="Times New Roman"/>
                <a:sym typeface="Times New Roman"/>
              </a:rPr>
              <a:t>“Sign Language Recognition by LSTM-driven Speech Synthesis,”</a:t>
            </a:r>
            <a:r>
              <a:rPr lang="en-GB" sz="1200" dirty="0">
                <a:solidFill>
                  <a:schemeClr val="dk1"/>
                </a:solidFill>
                <a:latin typeface="Times New Roman"/>
                <a:ea typeface="Times New Roman"/>
                <a:cs typeface="Times New Roman"/>
                <a:sym typeface="Times New Roman"/>
              </a:rPr>
              <a:t> 2024 Second International Conference on Advances in Information Technology (ICAIT), May 14, 2024,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10.1109/ICAIT61638.2024.10690841.</a:t>
            </a:r>
            <a:endParaRPr sz="1200" dirty="0">
              <a:solidFill>
                <a:schemeClr val="dk1"/>
              </a:solidFill>
              <a:latin typeface="Times New Roman"/>
              <a:ea typeface="Times New Roman"/>
              <a:cs typeface="Times New Roman"/>
              <a:sym typeface="Times New Roman"/>
            </a:endParaRPr>
          </a:p>
          <a:p>
            <a:pPr marL="152400" lvl="0" indent="-457200" algn="l" rtl="0">
              <a:spcBef>
                <a:spcPts val="1000"/>
              </a:spcBef>
              <a:spcAft>
                <a:spcPts val="0"/>
              </a:spcAft>
              <a:buClr>
                <a:schemeClr val="dk1"/>
              </a:buClr>
              <a:buSzPts val="1200"/>
            </a:pPr>
            <a:r>
              <a:rPr lang="en-GB" sz="1200" dirty="0">
                <a:solidFill>
                  <a:schemeClr val="dk1"/>
                </a:solidFill>
                <a:latin typeface="Times New Roman"/>
                <a:ea typeface="Times New Roman"/>
                <a:cs typeface="Times New Roman"/>
                <a:sym typeface="Times New Roman"/>
              </a:rPr>
              <a:t>[4]. P. </a:t>
            </a:r>
            <a:r>
              <a:rPr lang="en-GB" sz="1200" dirty="0" err="1">
                <a:solidFill>
                  <a:schemeClr val="dk1"/>
                </a:solidFill>
                <a:latin typeface="Times New Roman"/>
                <a:ea typeface="Times New Roman"/>
                <a:cs typeface="Times New Roman"/>
                <a:sym typeface="Times New Roman"/>
              </a:rPr>
              <a:t>Venkadesh</a:t>
            </a:r>
            <a:r>
              <a:rPr lang="en-GB" sz="1200" dirty="0">
                <a:solidFill>
                  <a:schemeClr val="dk1"/>
                </a:solidFill>
                <a:latin typeface="Times New Roman"/>
                <a:ea typeface="Times New Roman"/>
                <a:cs typeface="Times New Roman"/>
                <a:sym typeface="Times New Roman"/>
              </a:rPr>
              <a:t>, J. Taric, M. Mariyal, D. S., K. </a:t>
            </a:r>
            <a:r>
              <a:rPr lang="en-GB" sz="1200" dirty="0" err="1">
                <a:solidFill>
                  <a:schemeClr val="dk1"/>
                </a:solidFill>
                <a:latin typeface="Times New Roman"/>
                <a:ea typeface="Times New Roman"/>
                <a:cs typeface="Times New Roman"/>
                <a:sym typeface="Times New Roman"/>
              </a:rPr>
              <a:t>Anuranjani</a:t>
            </a:r>
            <a:r>
              <a:rPr lang="en-GB" sz="1200" dirty="0">
                <a:solidFill>
                  <a:schemeClr val="dk1"/>
                </a:solidFill>
                <a:latin typeface="Times New Roman"/>
                <a:ea typeface="Times New Roman"/>
                <a:cs typeface="Times New Roman"/>
                <a:sym typeface="Times New Roman"/>
              </a:rPr>
              <a:t>, and S. V. Divya, </a:t>
            </a:r>
            <a:r>
              <a:rPr lang="en-GB" sz="1200" i="1" dirty="0">
                <a:solidFill>
                  <a:schemeClr val="dk1"/>
                </a:solidFill>
                <a:latin typeface="Times New Roman"/>
                <a:ea typeface="Times New Roman"/>
                <a:cs typeface="Times New Roman"/>
                <a:sym typeface="Times New Roman"/>
              </a:rPr>
              <a:t>“</a:t>
            </a:r>
            <a:r>
              <a:rPr lang="en-GB" sz="1200" i="1" dirty="0" err="1">
                <a:solidFill>
                  <a:schemeClr val="dk1"/>
                </a:solidFill>
                <a:latin typeface="Times New Roman"/>
                <a:ea typeface="Times New Roman"/>
                <a:cs typeface="Times New Roman"/>
                <a:sym typeface="Times New Roman"/>
              </a:rPr>
              <a:t>SignChatAI</a:t>
            </a:r>
            <a:r>
              <a:rPr lang="en-GB" sz="1200" i="1" dirty="0">
                <a:solidFill>
                  <a:schemeClr val="dk1"/>
                </a:solidFill>
                <a:latin typeface="Times New Roman"/>
                <a:ea typeface="Times New Roman"/>
                <a:cs typeface="Times New Roman"/>
                <a:sym typeface="Times New Roman"/>
              </a:rPr>
              <a:t>—Generative AI for Deaf-and-Mute Community Using Indian Sign Language (ISL),”</a:t>
            </a:r>
            <a:r>
              <a:rPr lang="en-GB" sz="1200" dirty="0">
                <a:solidFill>
                  <a:schemeClr val="dk1"/>
                </a:solidFill>
                <a:latin typeface="Times New Roman"/>
                <a:ea typeface="Times New Roman"/>
                <a:cs typeface="Times New Roman"/>
                <a:sym typeface="Times New Roman"/>
              </a:rPr>
              <a:t> 2024 International Conference on Computing and Intelligent Reality Technologies (ICCIRT), pp. 84–88, May 14, 2024,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10.1109/ICCIRT59484.2024.10921817.</a:t>
            </a:r>
            <a:endParaRPr sz="1200" dirty="0">
              <a:solidFill>
                <a:schemeClr val="dk1"/>
              </a:solidFill>
              <a:latin typeface="Times New Roman"/>
              <a:ea typeface="Times New Roman"/>
              <a:cs typeface="Times New Roman"/>
              <a:sym typeface="Times New Roman"/>
            </a:endParaRPr>
          </a:p>
          <a:p>
            <a:pPr marL="152400" lvl="0" indent="-457200" algn="l" rtl="0">
              <a:spcBef>
                <a:spcPts val="1000"/>
              </a:spcBef>
              <a:spcAft>
                <a:spcPts val="0"/>
              </a:spcAft>
              <a:buClr>
                <a:schemeClr val="dk1"/>
              </a:buClr>
              <a:buSzPts val="1200"/>
            </a:pPr>
            <a:r>
              <a:rPr lang="en-GB" sz="1200" dirty="0">
                <a:solidFill>
                  <a:schemeClr val="dk1"/>
                </a:solidFill>
                <a:latin typeface="Times New Roman"/>
                <a:ea typeface="Times New Roman"/>
                <a:cs typeface="Times New Roman"/>
                <a:sym typeface="Times New Roman"/>
              </a:rPr>
              <a:t>[5]. M. Soundarya, M. Yazhini, N. S. Thirumala Sree, N. M. </a:t>
            </a:r>
            <a:r>
              <a:rPr lang="en-GB" sz="1200" dirty="0" err="1">
                <a:solidFill>
                  <a:schemeClr val="dk1"/>
                </a:solidFill>
                <a:latin typeface="Times New Roman"/>
                <a:ea typeface="Times New Roman"/>
                <a:cs typeface="Times New Roman"/>
                <a:sym typeface="Times New Roman"/>
              </a:rPr>
              <a:t>Sornamalaya</a:t>
            </a:r>
            <a:r>
              <a:rPr lang="en-GB" sz="1200" dirty="0">
                <a:solidFill>
                  <a:schemeClr val="dk1"/>
                </a:solidFill>
                <a:latin typeface="Times New Roman"/>
                <a:ea typeface="Times New Roman"/>
                <a:cs typeface="Times New Roman"/>
                <a:sym typeface="Times New Roman"/>
              </a:rPr>
              <a:t>, and C. Vinitha, </a:t>
            </a:r>
            <a:r>
              <a:rPr lang="en-GB" sz="1200" i="1" dirty="0">
                <a:solidFill>
                  <a:schemeClr val="dk1"/>
                </a:solidFill>
                <a:latin typeface="Times New Roman"/>
                <a:ea typeface="Times New Roman"/>
                <a:cs typeface="Times New Roman"/>
                <a:sym typeface="Times New Roman"/>
              </a:rPr>
              <a:t>“Sign Language Recognition Using Machine Learning,”</a:t>
            </a:r>
            <a:r>
              <a:rPr lang="en-GB" sz="1200" dirty="0">
                <a:solidFill>
                  <a:schemeClr val="dk1"/>
                </a:solidFill>
                <a:latin typeface="Times New Roman"/>
                <a:ea typeface="Times New Roman"/>
                <a:cs typeface="Times New Roman"/>
                <a:sym typeface="Times New Roman"/>
              </a:rPr>
              <a:t> 2024 International Conference on Advances in Computing, Communication and Applied Informatics (ACCAI), pp. 1–6, May 14, 2024,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10.1109/ACCAI61061.2024.10602025.</a:t>
            </a:r>
          </a:p>
          <a:p>
            <a:pPr marL="152400" lvl="0" indent="-457200">
              <a:spcBef>
                <a:spcPts val="1000"/>
              </a:spcBef>
              <a:buClr>
                <a:schemeClr val="dk1"/>
              </a:buClr>
              <a:buSzPts val="1200"/>
            </a:pPr>
            <a:r>
              <a:rPr lang="en-GB" sz="1200" dirty="0">
                <a:solidFill>
                  <a:schemeClr val="dk1"/>
                </a:solidFill>
                <a:latin typeface="Times New Roman"/>
                <a:ea typeface="Times New Roman"/>
                <a:cs typeface="Times New Roman"/>
                <a:sym typeface="Times New Roman"/>
              </a:rPr>
              <a:t>[6]. D. R. </a:t>
            </a:r>
            <a:r>
              <a:rPr lang="en-GB" sz="1200" dirty="0" err="1">
                <a:solidFill>
                  <a:schemeClr val="dk1"/>
                </a:solidFill>
                <a:latin typeface="Times New Roman"/>
                <a:ea typeface="Times New Roman"/>
                <a:cs typeface="Times New Roman"/>
                <a:sym typeface="Times New Roman"/>
              </a:rPr>
              <a:t>Kothadiya</a:t>
            </a:r>
            <a:r>
              <a:rPr lang="en-GB" sz="1200" dirty="0">
                <a:solidFill>
                  <a:schemeClr val="dk1"/>
                </a:solidFill>
                <a:latin typeface="Times New Roman"/>
                <a:ea typeface="Times New Roman"/>
                <a:cs typeface="Times New Roman"/>
                <a:sym typeface="Times New Roman"/>
              </a:rPr>
              <a:t>, C. M. Bhatt, A. Rehman, F. S. Alamri, and T. Saba, </a:t>
            </a:r>
            <a:r>
              <a:rPr lang="en-GB" sz="1200" i="1" dirty="0">
                <a:solidFill>
                  <a:schemeClr val="dk1"/>
                </a:solidFill>
                <a:latin typeface="Times New Roman"/>
                <a:ea typeface="Times New Roman"/>
                <a:cs typeface="Times New Roman"/>
                <a:sym typeface="Times New Roman"/>
              </a:rPr>
              <a:t>“</a:t>
            </a:r>
            <a:r>
              <a:rPr lang="en-GB" sz="1200" i="1" dirty="0" err="1">
                <a:solidFill>
                  <a:schemeClr val="dk1"/>
                </a:solidFill>
                <a:latin typeface="Times New Roman"/>
                <a:ea typeface="Times New Roman"/>
                <a:cs typeface="Times New Roman"/>
                <a:sym typeface="Times New Roman"/>
              </a:rPr>
              <a:t>SignExplainer</a:t>
            </a:r>
            <a:r>
              <a:rPr lang="en-GB" sz="1200" i="1" dirty="0">
                <a:solidFill>
                  <a:schemeClr val="dk1"/>
                </a:solidFill>
                <a:latin typeface="Times New Roman"/>
                <a:ea typeface="Times New Roman"/>
                <a:cs typeface="Times New Roman"/>
                <a:sym typeface="Times New Roman"/>
              </a:rPr>
              <a:t>: An Explainable AI-Enabled Framework for Sign Language Recognition With Ensemble Learning,”</a:t>
            </a:r>
            <a:r>
              <a:rPr lang="en-GB" sz="1200" dirty="0">
                <a:solidFill>
                  <a:schemeClr val="dk1"/>
                </a:solidFill>
                <a:latin typeface="Times New Roman"/>
                <a:ea typeface="Times New Roman"/>
                <a:cs typeface="Times New Roman"/>
                <a:sym typeface="Times New Roman"/>
              </a:rPr>
              <a:t> IEEE Access, vol. 11, pp. 47410–47414, May 10, 2023,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10.1109/ACCESS.2023.3274851.</a:t>
            </a: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p:nvPr/>
        </p:nvSpPr>
        <p:spPr>
          <a:xfrm>
            <a:off x="228600" y="422651"/>
            <a:ext cx="8686800" cy="4468885"/>
          </a:xfrm>
          <a:prstGeom prst="rect">
            <a:avLst/>
          </a:prstGeom>
          <a:noFill/>
          <a:ln>
            <a:noFill/>
          </a:ln>
        </p:spPr>
        <p:txBody>
          <a:bodyPr spcFirstLastPara="1" wrap="square" lIns="91425" tIns="91425" rIns="91425" bIns="91425" anchor="t" anchorCtr="0">
            <a:spAutoFit/>
          </a:bodyPr>
          <a:lstStyle/>
          <a:p>
            <a:pPr marL="152400" lvl="0" indent="-457200" algn="l" rtl="0">
              <a:lnSpc>
                <a:spcPct val="115000"/>
              </a:lnSpc>
              <a:spcBef>
                <a:spcPts val="0"/>
              </a:spcBef>
              <a:spcAft>
                <a:spcPts val="600"/>
              </a:spcAft>
              <a:buClr>
                <a:schemeClr val="dk1"/>
              </a:buClr>
              <a:buSzPts val="1200"/>
            </a:pPr>
            <a:r>
              <a:rPr lang="en-GB" sz="1200" dirty="0">
                <a:solidFill>
                  <a:schemeClr val="dk1"/>
                </a:solidFill>
                <a:latin typeface="Times New Roman"/>
                <a:ea typeface="Times New Roman"/>
                <a:cs typeface="Times New Roman"/>
                <a:sym typeface="Times New Roman"/>
              </a:rPr>
              <a:t>[7]. I. </a:t>
            </a:r>
            <a:r>
              <a:rPr lang="en-GB" sz="1200" dirty="0" err="1">
                <a:solidFill>
                  <a:schemeClr val="dk1"/>
                </a:solidFill>
                <a:latin typeface="Times New Roman"/>
                <a:ea typeface="Times New Roman"/>
                <a:cs typeface="Times New Roman"/>
                <a:sym typeface="Times New Roman"/>
              </a:rPr>
              <a:t>Papastratis</a:t>
            </a:r>
            <a:r>
              <a:rPr lang="en-GB" sz="1200" dirty="0">
                <a:solidFill>
                  <a:schemeClr val="dk1"/>
                </a:solidFill>
                <a:latin typeface="Times New Roman"/>
                <a:ea typeface="Times New Roman"/>
                <a:cs typeface="Times New Roman"/>
                <a:sym typeface="Times New Roman"/>
              </a:rPr>
              <a:t>, K. Dimitropoulos, D. Konstantinidis, and P. Daras, </a:t>
            </a:r>
            <a:r>
              <a:rPr lang="en-GB" sz="1200" i="1" dirty="0">
                <a:solidFill>
                  <a:schemeClr val="dk1"/>
                </a:solidFill>
                <a:latin typeface="Times New Roman"/>
                <a:ea typeface="Times New Roman"/>
                <a:cs typeface="Times New Roman"/>
                <a:sym typeface="Times New Roman"/>
              </a:rPr>
              <a:t>“Continuous Sign Language Recognition Through Cross-Modal Alignment of Video and Text Embeddings in a Joint-Latent Space,”</a:t>
            </a:r>
            <a:r>
              <a:rPr lang="en-GB" sz="1200" dirty="0">
                <a:solidFill>
                  <a:schemeClr val="dk1"/>
                </a:solidFill>
                <a:latin typeface="Times New Roman"/>
                <a:ea typeface="Times New Roman"/>
                <a:cs typeface="Times New Roman"/>
                <a:sym typeface="Times New Roman"/>
              </a:rPr>
              <a:t> IEEE Access, vol. 8, pp. 91170–91175, May 11, 2020,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10.1109/ACCESS.2020.2993650.</a:t>
            </a:r>
          </a:p>
          <a:p>
            <a:pPr marL="152400" lvl="0" indent="-457200" algn="l" rtl="0">
              <a:lnSpc>
                <a:spcPct val="115000"/>
              </a:lnSpc>
              <a:spcBef>
                <a:spcPts val="0"/>
              </a:spcBef>
              <a:spcAft>
                <a:spcPts val="600"/>
              </a:spcAft>
              <a:buClr>
                <a:schemeClr val="dk1"/>
              </a:buClr>
              <a:buSzPts val="1200"/>
            </a:pPr>
            <a:r>
              <a:rPr lang="en-GB" sz="1200" dirty="0">
                <a:solidFill>
                  <a:schemeClr val="dk1"/>
                </a:solidFill>
                <a:latin typeface="Times New Roman"/>
                <a:ea typeface="Times New Roman"/>
                <a:cs typeface="Times New Roman"/>
                <a:sym typeface="Times New Roman"/>
              </a:rPr>
              <a:t>[8]. R. Chandrasekaran, S. Vijayaraj, M. Balakumaran, C. A. Stephen, D. </a:t>
            </a:r>
            <a:r>
              <a:rPr lang="en-GB" sz="1200" dirty="0" err="1">
                <a:solidFill>
                  <a:schemeClr val="dk1"/>
                </a:solidFill>
                <a:latin typeface="Times New Roman"/>
                <a:ea typeface="Times New Roman"/>
                <a:cs typeface="Times New Roman"/>
                <a:sym typeface="Times New Roman"/>
              </a:rPr>
              <a:t>Abhijjit</a:t>
            </a:r>
            <a:r>
              <a:rPr lang="en-GB" sz="1200" dirty="0">
                <a:solidFill>
                  <a:schemeClr val="dk1"/>
                </a:solidFill>
                <a:latin typeface="Times New Roman"/>
                <a:ea typeface="Times New Roman"/>
                <a:cs typeface="Times New Roman"/>
                <a:sym typeface="Times New Roman"/>
              </a:rPr>
              <a:t>, and M. K. Soundarya, </a:t>
            </a:r>
            <a:r>
              <a:rPr lang="en-GB" sz="1200" i="1" dirty="0">
                <a:solidFill>
                  <a:schemeClr val="dk1"/>
                </a:solidFill>
                <a:latin typeface="Times New Roman"/>
                <a:ea typeface="Times New Roman"/>
                <a:cs typeface="Times New Roman"/>
                <a:sym typeface="Times New Roman"/>
              </a:rPr>
              <a:t>“Interactive Sign Language Learning System—A Comprehensive Application for Sign Language Alphabet and Word Recognition,”</a:t>
            </a:r>
            <a:r>
              <a:rPr lang="en-GB" sz="1200" dirty="0">
                <a:solidFill>
                  <a:schemeClr val="dk1"/>
                </a:solidFill>
                <a:latin typeface="Times New Roman"/>
                <a:ea typeface="Times New Roman"/>
                <a:cs typeface="Times New Roman"/>
                <a:sym typeface="Times New Roman"/>
              </a:rPr>
              <a:t> Proceedings of the Fourth International Conference on Sentiment Analysis and Deep Learning (ICSADL), pp. 171–176, May 14, 2025,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10.1109/ICSADL65848.2025.10933085.</a:t>
            </a:r>
          </a:p>
          <a:p>
            <a:pPr marL="152400" lvl="0" indent="-457200" algn="l" rtl="0">
              <a:lnSpc>
                <a:spcPct val="115000"/>
              </a:lnSpc>
              <a:spcBef>
                <a:spcPts val="0"/>
              </a:spcBef>
              <a:spcAft>
                <a:spcPts val="600"/>
              </a:spcAft>
              <a:buClr>
                <a:schemeClr val="dk1"/>
              </a:buClr>
              <a:buSzPts val="1200"/>
            </a:pPr>
            <a:r>
              <a:rPr lang="en-GB" sz="1200" dirty="0">
                <a:solidFill>
                  <a:schemeClr val="dk1"/>
                </a:solidFill>
                <a:latin typeface="Times New Roman"/>
                <a:ea typeface="Times New Roman"/>
                <a:cs typeface="Times New Roman"/>
                <a:sym typeface="Times New Roman"/>
              </a:rPr>
              <a:t>[9]. A. Ashrafi, V. S. </a:t>
            </a:r>
            <a:r>
              <a:rPr lang="en-GB" sz="1200" dirty="0" err="1">
                <a:solidFill>
                  <a:schemeClr val="dk1"/>
                </a:solidFill>
                <a:latin typeface="Times New Roman"/>
                <a:ea typeface="Times New Roman"/>
                <a:cs typeface="Times New Roman"/>
                <a:sym typeface="Times New Roman"/>
              </a:rPr>
              <a:t>Mokhnachev</a:t>
            </a:r>
            <a:r>
              <a:rPr lang="en-GB" sz="1200" dirty="0">
                <a:solidFill>
                  <a:schemeClr val="dk1"/>
                </a:solidFill>
                <a:latin typeface="Times New Roman"/>
                <a:ea typeface="Times New Roman"/>
                <a:cs typeface="Times New Roman"/>
                <a:sym typeface="Times New Roman"/>
              </a:rPr>
              <a:t>, and A. E. </a:t>
            </a:r>
            <a:r>
              <a:rPr lang="en-GB" sz="1200" dirty="0" err="1">
                <a:solidFill>
                  <a:schemeClr val="dk1"/>
                </a:solidFill>
                <a:latin typeface="Times New Roman"/>
                <a:ea typeface="Times New Roman"/>
                <a:cs typeface="Times New Roman"/>
                <a:sym typeface="Times New Roman"/>
              </a:rPr>
              <a:t>Harlamenkov</a:t>
            </a:r>
            <a:r>
              <a:rPr lang="en-GB" sz="1200" dirty="0">
                <a:solidFill>
                  <a:schemeClr val="dk1"/>
                </a:solidFill>
                <a:latin typeface="Times New Roman"/>
                <a:ea typeface="Times New Roman"/>
                <a:cs typeface="Times New Roman"/>
                <a:sym typeface="Times New Roman"/>
              </a:rPr>
              <a:t>, </a:t>
            </a:r>
            <a:r>
              <a:rPr lang="en-GB" sz="1200" i="1" dirty="0">
                <a:solidFill>
                  <a:schemeClr val="dk1"/>
                </a:solidFill>
                <a:latin typeface="Times New Roman"/>
                <a:ea typeface="Times New Roman"/>
                <a:cs typeface="Times New Roman"/>
                <a:sym typeface="Times New Roman"/>
              </a:rPr>
              <a:t>“Improving Sign Language Recognition with Machine Learning and Artificial Intelligence,”</a:t>
            </a:r>
            <a:r>
              <a:rPr lang="en-GB" sz="1200" dirty="0">
                <a:solidFill>
                  <a:schemeClr val="dk1"/>
                </a:solidFill>
                <a:latin typeface="Times New Roman"/>
                <a:ea typeface="Times New Roman"/>
                <a:cs typeface="Times New Roman"/>
                <a:sym typeface="Times New Roman"/>
              </a:rPr>
              <a:t> 2024 6th International Youth Conference on Radio Electronics, Electrical and Power Engineering (REEPE), May 14, 2024,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10.1109/REEPE60449.2024.10479844.</a:t>
            </a:r>
          </a:p>
          <a:p>
            <a:pPr marL="152400" lvl="0" indent="-457200" algn="l" rtl="0">
              <a:lnSpc>
                <a:spcPct val="115000"/>
              </a:lnSpc>
              <a:spcBef>
                <a:spcPts val="0"/>
              </a:spcBef>
              <a:spcAft>
                <a:spcPts val="600"/>
              </a:spcAft>
              <a:buClr>
                <a:schemeClr val="dk1"/>
              </a:buClr>
              <a:buSzPts val="1200"/>
            </a:pPr>
            <a:r>
              <a:rPr lang="en-GB" sz="1200" dirty="0">
                <a:solidFill>
                  <a:schemeClr val="dk1"/>
                </a:solidFill>
                <a:latin typeface="Times New Roman"/>
                <a:ea typeface="Times New Roman"/>
                <a:cs typeface="Times New Roman"/>
                <a:sym typeface="Times New Roman"/>
              </a:rPr>
              <a:t>[10]. Z. Hein, T. P. Htoo, B. Aye, S. M. Htet, and K. Z. Ye, </a:t>
            </a:r>
            <a:r>
              <a:rPr lang="en-GB" sz="1200" i="1" dirty="0">
                <a:solidFill>
                  <a:schemeClr val="dk1"/>
                </a:solidFill>
                <a:latin typeface="Times New Roman"/>
                <a:ea typeface="Times New Roman"/>
                <a:cs typeface="Times New Roman"/>
                <a:sym typeface="Times New Roman"/>
              </a:rPr>
              <a:t>“Leap Motion Based Myanmar Sign Language Recognition Using Machine Learning,”</a:t>
            </a:r>
            <a:r>
              <a:rPr lang="en-GB" sz="1200" dirty="0">
                <a:solidFill>
                  <a:schemeClr val="dk1"/>
                </a:solidFill>
                <a:latin typeface="Times New Roman"/>
                <a:ea typeface="Times New Roman"/>
                <a:cs typeface="Times New Roman"/>
                <a:sym typeface="Times New Roman"/>
              </a:rPr>
              <a:t> 2021 IEEE Conference of Russian Young Researchers in Electrical and Electronic Engineering (</a:t>
            </a:r>
            <a:r>
              <a:rPr lang="en-GB" sz="1200" dirty="0" err="1">
                <a:solidFill>
                  <a:schemeClr val="dk1"/>
                </a:solidFill>
                <a:latin typeface="Times New Roman"/>
                <a:ea typeface="Times New Roman"/>
                <a:cs typeface="Times New Roman"/>
                <a:sym typeface="Times New Roman"/>
              </a:rPr>
              <a:t>ElConRus</a:t>
            </a:r>
            <a:r>
              <a:rPr lang="en-GB" sz="1200" dirty="0">
                <a:solidFill>
                  <a:schemeClr val="dk1"/>
                </a:solidFill>
                <a:latin typeface="Times New Roman"/>
                <a:ea typeface="Times New Roman"/>
                <a:cs typeface="Times New Roman"/>
                <a:sym typeface="Times New Roman"/>
              </a:rPr>
              <a:t>), pp. 2304–2310, May 14, 2021,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10.1109/ElConRus51938.2021.9396496.</a:t>
            </a:r>
          </a:p>
          <a:p>
            <a:pPr marL="152400" lvl="0" indent="-457200">
              <a:lnSpc>
                <a:spcPct val="115000"/>
              </a:lnSpc>
              <a:spcAft>
                <a:spcPts val="600"/>
              </a:spcAft>
              <a:buClr>
                <a:schemeClr val="dk1"/>
              </a:buClr>
              <a:buSzPts val="1200"/>
            </a:pPr>
            <a:r>
              <a:rPr lang="en-GB" sz="1200" dirty="0">
                <a:solidFill>
                  <a:schemeClr val="dk1"/>
                </a:solidFill>
                <a:latin typeface="Times New Roman"/>
                <a:ea typeface="Times New Roman"/>
                <a:cs typeface="Times New Roman"/>
                <a:sym typeface="Times New Roman"/>
              </a:rPr>
              <a:t>[11]. H. Luqman, </a:t>
            </a:r>
            <a:r>
              <a:rPr lang="en-GB" sz="1200" i="1" dirty="0">
                <a:solidFill>
                  <a:schemeClr val="dk1"/>
                </a:solidFill>
                <a:latin typeface="Times New Roman"/>
                <a:ea typeface="Times New Roman"/>
                <a:cs typeface="Times New Roman"/>
                <a:sym typeface="Times New Roman"/>
              </a:rPr>
              <a:t>“An Efficient Two-Stream Network for Isolated Sign Language Recognition Using Accumulative Video Motion,”</a:t>
            </a:r>
            <a:r>
              <a:rPr lang="en-GB" sz="1200" dirty="0">
                <a:solidFill>
                  <a:schemeClr val="dk1"/>
                </a:solidFill>
                <a:latin typeface="Times New Roman"/>
                <a:ea typeface="Times New Roman"/>
                <a:cs typeface="Times New Roman"/>
                <a:sym typeface="Times New Roman"/>
              </a:rPr>
              <a:t> IEEE Access, vol. 10, pp. 93785–93789, Sep. 5, 2022,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10.1109/ACCESS.2022.3204110.</a:t>
            </a:r>
          </a:p>
          <a:p>
            <a:pPr marL="152400" lvl="0" indent="-457200">
              <a:lnSpc>
                <a:spcPct val="115000"/>
              </a:lnSpc>
              <a:spcAft>
                <a:spcPts val="600"/>
              </a:spcAft>
              <a:buClr>
                <a:schemeClr val="dk1"/>
              </a:buClr>
              <a:buSzPts val="1200"/>
            </a:pPr>
            <a:r>
              <a:rPr lang="en-GB" sz="1200" dirty="0">
                <a:solidFill>
                  <a:schemeClr val="dk1"/>
                </a:solidFill>
                <a:latin typeface="Times New Roman"/>
                <a:ea typeface="Times New Roman"/>
                <a:cs typeface="Times New Roman"/>
                <a:sym typeface="Times New Roman"/>
              </a:rPr>
              <a:t>[12]. S. Kumari, E. Tarlue, A. Diallo, M. Chhabra, G. S. Mishra, and M. K. Goyal, </a:t>
            </a:r>
            <a:r>
              <a:rPr lang="en-GB" sz="1200" i="1" dirty="0">
                <a:solidFill>
                  <a:schemeClr val="dk1"/>
                </a:solidFill>
                <a:latin typeface="Times New Roman"/>
                <a:ea typeface="Times New Roman"/>
                <a:cs typeface="Times New Roman"/>
                <a:sym typeface="Times New Roman"/>
              </a:rPr>
              <a:t>“A Review of Segmentation and Recognition Techniques for Indian Sign Language Using Machine Learning and Computer Vision,”</a:t>
            </a:r>
            <a:r>
              <a:rPr lang="en-GB" sz="1200" dirty="0">
                <a:solidFill>
                  <a:schemeClr val="dk1"/>
                </a:solidFill>
                <a:latin typeface="Times New Roman"/>
                <a:ea typeface="Times New Roman"/>
                <a:cs typeface="Times New Roman"/>
                <a:sym typeface="Times New Roman"/>
              </a:rPr>
              <a:t> 10th International Conference on Computing for Sustainable Global Development (</a:t>
            </a:r>
            <a:r>
              <a:rPr lang="en-GB" sz="1200" dirty="0" err="1">
                <a:solidFill>
                  <a:schemeClr val="dk1"/>
                </a:solidFill>
                <a:latin typeface="Times New Roman"/>
                <a:ea typeface="Times New Roman"/>
                <a:cs typeface="Times New Roman"/>
                <a:sym typeface="Times New Roman"/>
              </a:rPr>
              <a:t>INDIACom</a:t>
            </a:r>
            <a:r>
              <a:rPr lang="en-GB" sz="1200" dirty="0">
                <a:solidFill>
                  <a:schemeClr val="dk1"/>
                </a:solidFill>
                <a:latin typeface="Times New Roman"/>
                <a:ea typeface="Times New Roman"/>
                <a:cs typeface="Times New Roman"/>
                <a:sym typeface="Times New Roman"/>
              </a:rPr>
              <a:t>), pp. 1130–1133, 2023, </a:t>
            </a:r>
            <a:r>
              <a:rPr lang="en-GB" sz="1200" dirty="0" err="1">
                <a:solidFill>
                  <a:schemeClr val="dk1"/>
                </a:solidFill>
                <a:latin typeface="Times New Roman"/>
                <a:ea typeface="Times New Roman"/>
                <a:cs typeface="Times New Roman"/>
                <a:sym typeface="Times New Roman"/>
              </a:rPr>
              <a:t>doi</a:t>
            </a:r>
            <a:r>
              <a:rPr lang="en-GB" sz="1200" dirty="0">
                <a:solidFill>
                  <a:schemeClr val="dk1"/>
                </a:solidFill>
                <a:latin typeface="Times New Roman"/>
                <a:ea typeface="Times New Roman"/>
                <a:cs typeface="Times New Roman"/>
                <a:sym typeface="Times New Roman"/>
              </a:rPr>
              <a:t>: 10.1109/INDIACom57729.2023.10112345.</a:t>
            </a:r>
            <a:endParaRPr sz="1200" dirty="0">
              <a:solidFill>
                <a:schemeClr val="dk1"/>
              </a:solidFill>
              <a:latin typeface="Times New Roman"/>
              <a:ea typeface="Times New Roman"/>
              <a:cs typeface="Times New Roman"/>
              <a:sym typeface="Times New Roman"/>
            </a:endParaRPr>
          </a:p>
        </p:txBody>
      </p:sp>
      <p:sp>
        <p:nvSpPr>
          <p:cNvPr id="2" name="Google Shape;122;p24">
            <a:extLst>
              <a:ext uri="{FF2B5EF4-FFF2-40B4-BE49-F238E27FC236}">
                <a16:creationId xmlns:a16="http://schemas.microsoft.com/office/drawing/2014/main" id="{8469C952-6DD6-6BA6-92DE-01BE1A28875F}"/>
              </a:ext>
            </a:extLst>
          </p:cNvPr>
          <p:cNvSpPr txBox="1"/>
          <p:nvPr/>
        </p:nvSpPr>
        <p:spPr>
          <a:xfrm>
            <a:off x="3072000" y="-98994"/>
            <a:ext cx="30000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000" u="sng" dirty="0">
                <a:solidFill>
                  <a:schemeClr val="dk1"/>
                </a:solidFill>
                <a:latin typeface="Times New Roman"/>
                <a:ea typeface="Times New Roman"/>
                <a:cs typeface="Times New Roman"/>
                <a:sym typeface="Times New Roman"/>
              </a:rPr>
              <a:t>REFERENCES</a:t>
            </a:r>
            <a:endParaRPr sz="3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7"/>
          <p:cNvSpPr txBox="1"/>
          <p:nvPr/>
        </p:nvSpPr>
        <p:spPr>
          <a:xfrm>
            <a:off x="1749750" y="940200"/>
            <a:ext cx="5644500" cy="326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0000" b="1">
                <a:solidFill>
                  <a:schemeClr val="dk1"/>
                </a:solidFill>
                <a:latin typeface="Times New Roman"/>
                <a:ea typeface="Times New Roman"/>
                <a:cs typeface="Times New Roman"/>
                <a:sym typeface="Times New Roman"/>
              </a:rPr>
              <a:t>THANK YOU</a:t>
            </a:r>
            <a:endParaRPr sz="10000" b="1">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2639</Words>
  <Application>Microsoft Office PowerPoint</Application>
  <PresentationFormat>On-screen Show (16:9)</PresentationFormat>
  <Paragraphs>160</Paragraphs>
  <Slides>13</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Calibri</vt:lpstr>
      <vt:lpstr>Calibri Light</vt:lpstr>
      <vt:lpstr>Copperplate Gothic Bold</vt:lpstr>
      <vt:lpstr>Times New Roman</vt:lpstr>
      <vt:lpstr>Simple Light</vt:lpstr>
      <vt:lpstr>Office Theme</vt:lpstr>
      <vt:lpstr>Deep Learning and NLP-Based Real-Time Sign Language Recognition and Contextual Conversion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PRAJWALANISH V</dc:creator>
  <cp:lastModifiedBy>PRAJWALANISH V</cp:lastModifiedBy>
  <cp:revision>4</cp:revision>
  <dcterms:modified xsi:type="dcterms:W3CDTF">2026-01-07T17:08:41Z</dcterms:modified>
</cp:coreProperties>
</file>